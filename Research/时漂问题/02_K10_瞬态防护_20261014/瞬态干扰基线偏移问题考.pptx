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0F70B7-2D70-42C3-AB8B-984BA8C48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EF7F66-1846-4476-A6CA-954DD65B76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B43359-0774-46C6-93E7-E048ECB001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82C534-A24E-47C7-84F4-DAF06D4A81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16975A-BA50-4B9B-8357-31C785F8E6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270222-9FFE-4A0A-9B20-7E1476F6CA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831FD1-FE43-4246-9917-F26B056D91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BA32B4-8003-4898-9F32-B999EA0AF8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135EE2-2365-424D-9D60-AE2E64E0B1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B09D8E-3839-4C56-9CC7-863AE148C5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E8C0B5-EA30-42F9-88D4-98591B92F9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255600" cy="685764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051560" y="1298520"/>
            <a:ext cx="5851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300" b="1" u="none" strike="noStrike">
                <a:solidFill>
                  <a:srgbClr val="C89A3C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1300" b="1" u="none" strike="noStrike">
                <a:solidFill>
                  <a:srgbClr val="C89A3C"/>
                </a:solidFill>
                <a:effectLst/>
                <a:uFillTx/>
                <a:latin typeface="微软雅黑"/>
                <a:ea typeface="微软雅黑"/>
              </a:rPr>
              <a:t>· Modutech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051560" y="1828800"/>
            <a:ext cx="75891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zh-CN" sz="440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瞬态干扰导致的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6000"/>
              </a:lnSpc>
            </a:pPr>
            <a:r>
              <a:rPr lang="zh-CN" sz="440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基线永久偏移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Bef>
                <a:spcPts val="799"/>
              </a:spcBef>
            </a:pPr>
            <a:r>
              <a:rPr lang="zh-CN" sz="2200" b="0" u="none" strike="noStrike">
                <a:solidFill>
                  <a:srgbClr val="BFD4E8"/>
                </a:solidFill>
                <a:effectLst/>
                <a:uFillTx/>
                <a:latin typeface="微软雅黑"/>
                <a:ea typeface="微软雅黑"/>
              </a:rPr>
              <a:t>问题说明与解决方案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1051560" y="4316040"/>
            <a:ext cx="1919880" cy="31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051560" y="4553640"/>
            <a:ext cx="9326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400"/>
              </a:spcAft>
            </a:pPr>
            <a:r>
              <a:rPr lang="zh-CN" sz="1200" b="0" u="none" strike="noStrike">
                <a:solidFill>
                  <a:srgbClr val="A9C1D8"/>
                </a:solidFill>
                <a:effectLst/>
                <a:uFillTx/>
                <a:latin typeface="微软雅黑"/>
                <a:ea typeface="微软雅黑"/>
              </a:rPr>
              <a:t>数据来源：左右拇指指腹恒载录制（长时间恒定加压）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8000"/>
              </a:lnSpc>
            </a:pPr>
            <a:r>
              <a:rPr lang="zh-CN" sz="1200" b="0" u="none" strike="noStrike">
                <a:solidFill>
                  <a:srgbClr val="A9C1D8"/>
                </a:solidFill>
                <a:effectLst/>
                <a:uFillTx/>
                <a:latin typeface="微软雅黑"/>
                <a:ea typeface="微软雅黑"/>
              </a:rPr>
              <a:t>日期：</a:t>
            </a:r>
            <a:r>
              <a:rPr lang="en-US" sz="1200" b="0" u="none" strike="noStrike">
                <a:solidFill>
                  <a:srgbClr val="A9C1D8"/>
                </a:solidFill>
                <a:effectLst/>
                <a:uFillTx/>
                <a:latin typeface="微软雅黑"/>
                <a:ea typeface="微软雅黑"/>
              </a:rPr>
              <a:t>2026-10-14</a:t>
            </a:r>
            <a:r>
              <a:rPr lang="zh-CN" sz="1200" b="0" u="none" strike="noStrike">
                <a:solidFill>
                  <a:srgbClr val="A9C1D8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7" descr="modutech_logo.png"/>
          <p:cNvPicPr/>
          <p:nvPr/>
        </p:nvPicPr>
        <p:blipFill>
          <a:blip r:embed="rId1"/>
          <a:stretch/>
        </p:blipFill>
        <p:spPr>
          <a:xfrm>
            <a:off x="9711000" y="4526280"/>
            <a:ext cx="959760" cy="95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8"/>
          <p:cNvSpPr/>
          <p:nvPr/>
        </p:nvSpPr>
        <p:spPr>
          <a:xfrm>
            <a:off x="9162360" y="56325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微软雅黑"/>
              </a:rPr>
              <a:t>MODUTECH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结论摘要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一页结论：现象、原因、方案与验证结果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10"/>
          <p:cNvSpPr/>
          <p:nvPr/>
        </p:nvSpPr>
        <p:spPr>
          <a:xfrm>
            <a:off x="685800" y="1481400"/>
            <a:ext cx="3538440" cy="1773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11"/>
          <p:cNvSpPr/>
          <p:nvPr/>
        </p:nvSpPr>
        <p:spPr>
          <a:xfrm>
            <a:off x="685800" y="1481400"/>
            <a:ext cx="50040" cy="177372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960120" y="1618560"/>
            <a:ext cx="308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2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现象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3"/>
          <p:cNvSpPr/>
          <p:nvPr/>
        </p:nvSpPr>
        <p:spPr>
          <a:xfrm>
            <a:off x="960120" y="1956960"/>
            <a:ext cx="308124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zh-CN" sz="17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一次约 </a:t>
            </a:r>
            <a:r>
              <a:rPr lang="en-US" sz="17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0.3 </a:t>
            </a:r>
            <a:r>
              <a:rPr lang="zh-CN" sz="17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秒的瞬时跳动，使补偿后读数基线永久抬升 </a:t>
            </a:r>
            <a:r>
              <a:rPr lang="en-US" sz="17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61.5 ADC</a:t>
            </a:r>
            <a:r>
              <a:rPr lang="zh-CN" sz="17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，此后不再回落。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4"/>
          <p:cNvSpPr/>
          <p:nvPr/>
        </p:nvSpPr>
        <p:spPr>
          <a:xfrm>
            <a:off x="4407480" y="1481400"/>
            <a:ext cx="3538440" cy="1773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15"/>
          <p:cNvSpPr/>
          <p:nvPr/>
        </p:nvSpPr>
        <p:spPr>
          <a:xfrm>
            <a:off x="4407480" y="1481400"/>
            <a:ext cx="50040" cy="1773720"/>
          </a:xfrm>
          <a:prstGeom prst="rect">
            <a:avLst/>
          </a:prstGeom>
          <a:solidFill>
            <a:srgbClr val="5A65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6"/>
          <p:cNvSpPr/>
          <p:nvPr/>
        </p:nvSpPr>
        <p:spPr>
          <a:xfrm>
            <a:off x="4681800" y="1618560"/>
            <a:ext cx="308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200" b="1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对照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7"/>
          <p:cNvSpPr/>
          <p:nvPr/>
        </p:nvSpPr>
        <p:spPr>
          <a:xfrm>
            <a:off x="4681800" y="1956960"/>
            <a:ext cx="308124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zh-CN" sz="17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同一时段传感器原始读数没有任何台阶变化，跳动前后实测差值 </a:t>
            </a:r>
            <a:r>
              <a:rPr lang="en-US" sz="17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0.0 ADC</a:t>
            </a:r>
            <a:r>
              <a:rPr lang="zh-CN" sz="17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8"/>
          <p:cNvSpPr/>
          <p:nvPr/>
        </p:nvSpPr>
        <p:spPr>
          <a:xfrm>
            <a:off x="8129160" y="1481400"/>
            <a:ext cx="3538440" cy="1773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19"/>
          <p:cNvSpPr/>
          <p:nvPr/>
        </p:nvSpPr>
        <p:spPr>
          <a:xfrm>
            <a:off x="8129160" y="1481400"/>
            <a:ext cx="50040" cy="177372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0"/>
          <p:cNvSpPr/>
          <p:nvPr/>
        </p:nvSpPr>
        <p:spPr>
          <a:xfrm>
            <a:off x="8403480" y="1618560"/>
            <a:ext cx="308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200" b="1" u="none" strike="noStrike">
                <a:solidFill>
                  <a:srgbClr val="C89A3C"/>
                </a:solidFill>
                <a:effectLst/>
                <a:uFillTx/>
                <a:latin typeface="微软雅黑"/>
                <a:ea typeface="微软雅黑"/>
              </a:rPr>
              <a:t>影响量级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1"/>
          <p:cNvSpPr/>
          <p:nvPr/>
        </p:nvSpPr>
        <p:spPr>
          <a:xfrm>
            <a:off x="8403480" y="1956960"/>
            <a:ext cx="308124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en-US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61.5 ADC </a:t>
            </a:r>
            <a:r>
              <a:rPr lang="zh-CN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按项目既有粗略比例折算约 </a:t>
            </a:r>
            <a:r>
              <a:rPr lang="en-US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0.06 N</a:t>
            </a:r>
            <a:r>
              <a:rPr lang="zh-CN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，相当于 </a:t>
            </a:r>
            <a:r>
              <a:rPr lang="en-US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10 g </a:t>
            </a:r>
            <a:r>
              <a:rPr lang="zh-CN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级目标信号（约 </a:t>
            </a:r>
            <a:r>
              <a:rPr lang="en-US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100 ADC</a:t>
            </a:r>
            <a:r>
              <a:rPr lang="zh-CN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）的六成。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22"/>
          <p:cNvSpPr/>
          <p:nvPr/>
        </p:nvSpPr>
        <p:spPr>
          <a:xfrm>
            <a:off x="685800" y="3493080"/>
            <a:ext cx="3538440" cy="1773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23"/>
          <p:cNvSpPr/>
          <p:nvPr/>
        </p:nvSpPr>
        <p:spPr>
          <a:xfrm>
            <a:off x="685800" y="3493080"/>
            <a:ext cx="50040" cy="1773720"/>
          </a:xfrm>
          <a:prstGeom prst="rect">
            <a:avLst/>
          </a:prstGeom>
          <a:solidFill>
            <a:srgbClr val="A832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4"/>
          <p:cNvSpPr/>
          <p:nvPr/>
        </p:nvSpPr>
        <p:spPr>
          <a:xfrm>
            <a:off x="960120" y="3630240"/>
            <a:ext cx="308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200" b="1" u="none" strike="noStrike">
                <a:solidFill>
                  <a:srgbClr val="A8322B"/>
                </a:solidFill>
                <a:effectLst/>
                <a:uFillTx/>
                <a:latin typeface="微软雅黑"/>
                <a:ea typeface="微软雅黑"/>
              </a:rPr>
              <a:t>根本原因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5"/>
          <p:cNvSpPr/>
          <p:nvPr/>
        </p:nvSpPr>
        <p:spPr>
          <a:xfrm>
            <a:off x="960120" y="3968640"/>
            <a:ext cx="308124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zh-CN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算法把瞬时跳动误判为“载荷已卸除”，据此执行了一次不会自动撤销的基线修正。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26"/>
          <p:cNvSpPr/>
          <p:nvPr/>
        </p:nvSpPr>
        <p:spPr>
          <a:xfrm>
            <a:off x="4407480" y="3493080"/>
            <a:ext cx="3538440" cy="1773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27"/>
          <p:cNvSpPr/>
          <p:nvPr/>
        </p:nvSpPr>
        <p:spPr>
          <a:xfrm>
            <a:off x="4407480" y="3493080"/>
            <a:ext cx="50040" cy="1773720"/>
          </a:xfrm>
          <a:prstGeom prst="rect">
            <a:avLst/>
          </a:prstGeom>
          <a:solidFill>
            <a:srgbClr val="2E6B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8"/>
          <p:cNvSpPr/>
          <p:nvPr/>
        </p:nvSpPr>
        <p:spPr>
          <a:xfrm>
            <a:off x="4681800" y="3630240"/>
            <a:ext cx="308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200" b="1" u="none" strike="noStrike">
                <a:solidFill>
                  <a:srgbClr val="2E6B50"/>
                </a:solidFill>
                <a:effectLst/>
                <a:uFillTx/>
                <a:latin typeface="微软雅黑"/>
                <a:ea typeface="微软雅黑"/>
              </a:rPr>
              <a:t>解决方式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9"/>
          <p:cNvSpPr/>
          <p:nvPr/>
        </p:nvSpPr>
        <p:spPr>
          <a:xfrm>
            <a:off x="4681800" y="3968640"/>
            <a:ext cx="308124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zh-CN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增加一层瞬态识别保护：只有“持续保持”的电平变化才被认定为真实载荷变化。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30"/>
          <p:cNvSpPr/>
          <p:nvPr/>
        </p:nvSpPr>
        <p:spPr>
          <a:xfrm>
            <a:off x="8129160" y="3493080"/>
            <a:ext cx="3538440" cy="1773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31"/>
          <p:cNvSpPr/>
          <p:nvPr/>
        </p:nvSpPr>
        <p:spPr>
          <a:xfrm>
            <a:off x="8129160" y="3493080"/>
            <a:ext cx="50040" cy="1773720"/>
          </a:xfrm>
          <a:prstGeom prst="rect">
            <a:avLst/>
          </a:prstGeom>
          <a:solidFill>
            <a:srgbClr val="2E6B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32"/>
          <p:cNvSpPr/>
          <p:nvPr/>
        </p:nvSpPr>
        <p:spPr>
          <a:xfrm>
            <a:off x="8403480" y="3630240"/>
            <a:ext cx="308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200" b="1" u="none" strike="noStrike">
                <a:solidFill>
                  <a:srgbClr val="2E6B50"/>
                </a:solidFill>
                <a:effectLst/>
                <a:uFillTx/>
                <a:latin typeface="微软雅黑"/>
                <a:ea typeface="微软雅黑"/>
              </a:rPr>
              <a:t>验证结果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3"/>
          <p:cNvSpPr/>
          <p:nvPr/>
        </p:nvSpPr>
        <p:spPr>
          <a:xfrm>
            <a:off x="8403480" y="3968640"/>
            <a:ext cx="308124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zh-CN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同样跳动下长期偏移由 </a:t>
            </a:r>
            <a:r>
              <a:rPr lang="en-US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+24 ADC </a:t>
            </a:r>
            <a:r>
              <a:rPr lang="zh-CN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降至接近 </a:t>
            </a:r>
            <a:r>
              <a:rPr lang="en-US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0</a:t>
            </a:r>
            <a:r>
              <a:rPr lang="zh-CN" sz="15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；对真实加载、真实卸载、小幅度卸载的长期结果无影响。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4"/>
          <p:cNvSpPr/>
          <p:nvPr/>
        </p:nvSpPr>
        <p:spPr>
          <a:xfrm>
            <a:off x="685800" y="5614560"/>
            <a:ext cx="1081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口径说明：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ADC 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为传感器阵列原始计数单位；数据来自 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2026-10-14 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左拇指指腹长时间恒载录制与受控复现试验。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背景：为什么需要基线补偿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矩阵式触觉传感器的输出会随时间缓慢漂移，直接读数不能作为绝对压力使用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0"/>
          <p:cNvSpPr/>
          <p:nvPr/>
        </p:nvSpPr>
        <p:spPr>
          <a:xfrm>
            <a:off x="685800" y="1481400"/>
            <a:ext cx="3437640" cy="2331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11"/>
          <p:cNvSpPr/>
          <p:nvPr/>
        </p:nvSpPr>
        <p:spPr>
          <a:xfrm>
            <a:off x="685800" y="1481400"/>
            <a:ext cx="50040" cy="23313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960120" y="1627560"/>
            <a:ext cx="2889000" cy="20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4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传感器本身的特性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原始输出随温度、蠕变与接触状态缓慢变化；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加载时间越长，基线漂移越明显；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漂移是缓慢的、可跟踪的，与突然的载荷变化在时间尺度上完全不同。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3"/>
          <p:cNvSpPr/>
          <p:nvPr/>
        </p:nvSpPr>
        <p:spPr>
          <a:xfrm>
            <a:off x="4316040" y="1481400"/>
            <a:ext cx="3437640" cy="2331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14"/>
          <p:cNvSpPr/>
          <p:nvPr/>
        </p:nvSpPr>
        <p:spPr>
          <a:xfrm>
            <a:off x="4316040" y="1481400"/>
            <a:ext cx="50040" cy="2331360"/>
          </a:xfrm>
          <a:prstGeom prst="rect">
            <a:avLst/>
          </a:prstGeom>
          <a:solidFill>
            <a:srgbClr val="1645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5"/>
          <p:cNvSpPr/>
          <p:nvPr/>
        </p:nvSpPr>
        <p:spPr>
          <a:xfrm>
            <a:off x="4590360" y="1627560"/>
            <a:ext cx="2889000" cy="20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400" b="1" u="none" strike="noStrike">
                <a:solidFill>
                  <a:srgbClr val="164572"/>
                </a:solidFill>
                <a:effectLst/>
                <a:uFillTx/>
                <a:latin typeface="微软雅黑"/>
                <a:ea typeface="微软雅黑"/>
              </a:rPr>
              <a:t>补偿算法做了什么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持续跟踪一个随时间缓慢变化的基线电平；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输出的是“相对于当前基线”的载荷量；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目标是让长时间按压下的读数保持稳定可用。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16"/>
          <p:cNvSpPr/>
          <p:nvPr/>
        </p:nvSpPr>
        <p:spPr>
          <a:xfrm>
            <a:off x="7946280" y="1481400"/>
            <a:ext cx="3556800" cy="2331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17"/>
          <p:cNvSpPr/>
          <p:nvPr/>
        </p:nvSpPr>
        <p:spPr>
          <a:xfrm>
            <a:off x="7946280" y="1481400"/>
            <a:ext cx="50040" cy="2331360"/>
          </a:xfrm>
          <a:prstGeom prst="rect">
            <a:avLst/>
          </a:prstGeom>
          <a:solidFill>
            <a:srgbClr val="A832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8"/>
          <p:cNvSpPr/>
          <p:nvPr/>
        </p:nvSpPr>
        <p:spPr>
          <a:xfrm>
            <a:off x="8220600" y="1627560"/>
            <a:ext cx="3008160" cy="20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400" b="1" u="none" strike="noStrike">
                <a:solidFill>
                  <a:srgbClr val="A8322B"/>
                </a:solidFill>
                <a:effectLst/>
                <a:uFillTx/>
                <a:latin typeface="微软雅黑"/>
                <a:ea typeface="微软雅黑"/>
              </a:rPr>
              <a:t>补偿成立的前提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必须正确判别“仍有载荷”与“载荷已经卸除”；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判别的依据是电平的变化；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一旦判别被瞬态干扰欺骗，基线就会在错误的位置重新建立，并长期保持下去。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9"/>
          <p:cNvSpPr/>
          <p:nvPr/>
        </p:nvSpPr>
        <p:spPr>
          <a:xfrm>
            <a:off x="685800" y="4041720"/>
            <a:ext cx="10816920" cy="56664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0"/>
          <p:cNvSpPr/>
          <p:nvPr/>
        </p:nvSpPr>
        <p:spPr>
          <a:xfrm>
            <a:off x="914400" y="4114800"/>
            <a:ext cx="10332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12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本页说明的是“为什么需要这套补偿”，下一页开始说明瞬时干扰如何让这套补偿产生永久偏差。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Table 21"/>
          <p:cNvGraphicFramePr/>
          <p:nvPr/>
        </p:nvGraphicFramePr>
        <p:xfrm>
          <a:off x="685800" y="4827960"/>
          <a:ext cx="10816920" cy="1608840"/>
        </p:xfrm>
        <a:graphic>
          <a:graphicData uri="http://schemas.openxmlformats.org/drawingml/2006/table">
            <a:tbl>
              <a:tblPr/>
              <a:tblGrid>
                <a:gridCol w="3245040"/>
                <a:gridCol w="1946880"/>
                <a:gridCol w="2812320"/>
                <a:gridCol w="2812320"/>
              </a:tblGrid>
              <a:tr h="40212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时间尺度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典型幅度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物理含义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补偿算法应当如何对待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</a:tr>
              <a:tr h="40212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缓慢漂移（数十秒至数分钟）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数百至数千 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ADC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温度、蠕变、接触状态变化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更新基线，消除漂移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真实载荷变化（持续保持）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按载荷而定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加载或卸载真实发生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确认新基准，正常输出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40212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瞬态干扰（亚秒级）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与真实变化可比重叠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接触抖动、毛刺、瞬时干扰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不改变基线（本次问题点）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问题现象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恒载录制第 </a:t>
            </a:r>
            <a:r>
              <a:rPr lang="en-US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194.5 </a:t>
            </a: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秒附近出现一次约 </a:t>
            </a:r>
            <a:r>
              <a:rPr lang="en-US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0.3 </a:t>
            </a: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秒的瞬时跳动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10" descr="ppt_fig01_现象总览.png"/>
          <p:cNvPicPr/>
          <p:nvPr/>
        </p:nvPicPr>
        <p:blipFill>
          <a:blip r:embed="rId2"/>
          <a:stretch/>
        </p:blipFill>
        <p:spPr>
          <a:xfrm>
            <a:off x="887040" y="1444680"/>
            <a:ext cx="10423800" cy="47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11"/>
          <p:cNvSpPr/>
          <p:nvPr/>
        </p:nvSpPr>
        <p:spPr>
          <a:xfrm>
            <a:off x="887040" y="614484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灰线为传感器原始读数，蓝线为补偿后输出。原始读数全程平滑，跳动前后没有任何台阶（实测差值 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0.0 ADC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）；补偿输出在跳动处下探，随后基线整体上抬 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61.5 ADC 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并保持不变。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问题现象 </a:t>
            </a:r>
            <a:r>
              <a:rPr lang="en-US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局部放大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跳动前后存在一个稳定台阶，而原始读数没有变化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0" descr="ppt_fig02_局部放大.png"/>
          <p:cNvPicPr/>
          <p:nvPr/>
        </p:nvPicPr>
        <p:blipFill>
          <a:blip r:embed="rId2"/>
          <a:stretch/>
        </p:blipFill>
        <p:spPr>
          <a:xfrm>
            <a:off x="1097280" y="1444680"/>
            <a:ext cx="9966600" cy="45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11"/>
          <p:cNvSpPr/>
          <p:nvPr/>
        </p:nvSpPr>
        <p:spPr>
          <a:xfrm>
            <a:off x="1097280" y="59983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图中绿线与红线为跳动前后的基线电平，两者之间存在稳定台阶；灰线为传感器原始读数，事件前后没有变化，说明台阶不是物理载荷变化造成的。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问题原因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算法把一次瞬时跳动误判为“载荷已卸除”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0"/>
          <p:cNvSpPr/>
          <p:nvPr/>
        </p:nvSpPr>
        <p:spPr>
          <a:xfrm>
            <a:off x="685800" y="1463040"/>
            <a:ext cx="2605680" cy="1700280"/>
          </a:xfrm>
          <a:prstGeom prst="roundRect">
            <a:avLst>
              <a:gd name="adj" fmla="val 6000"/>
            </a:avLst>
          </a:prstGeom>
          <a:solidFill>
            <a:srgbClr val="FAF0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11"/>
          <p:cNvSpPr/>
          <p:nvPr/>
        </p:nvSpPr>
        <p:spPr>
          <a:xfrm>
            <a:off x="685800" y="1463040"/>
            <a:ext cx="50040" cy="1700280"/>
          </a:xfrm>
          <a:prstGeom prst="rect">
            <a:avLst/>
          </a:prstGeom>
          <a:solidFill>
            <a:srgbClr val="A832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2"/>
          <p:cNvSpPr/>
          <p:nvPr/>
        </p:nvSpPr>
        <p:spPr>
          <a:xfrm>
            <a:off x="960120" y="1609200"/>
            <a:ext cx="2148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400" b="1" u="none" strike="noStrike">
                <a:solidFill>
                  <a:srgbClr val="A8322B"/>
                </a:solidFill>
                <a:effectLst/>
                <a:uFillTx/>
                <a:latin typeface="微软雅黑"/>
                <a:ea typeface="微软雅黑"/>
              </a:rPr>
              <a:t>1. </a:t>
            </a:r>
            <a:r>
              <a:rPr lang="zh-CN" sz="1400" b="1" u="none" strike="noStrike">
                <a:solidFill>
                  <a:srgbClr val="A8322B"/>
                </a:solidFill>
                <a:effectLst/>
                <a:uFillTx/>
                <a:latin typeface="微软雅黑"/>
                <a:ea typeface="微软雅黑"/>
              </a:rPr>
              <a:t>干扰到来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3"/>
          <p:cNvSpPr/>
          <p:nvPr/>
        </p:nvSpPr>
        <p:spPr>
          <a:xfrm>
            <a:off x="960120" y="1993320"/>
            <a:ext cx="21484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读数在约 </a:t>
            </a:r>
            <a:r>
              <a:rPr lang="en-US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0.3 </a:t>
            </a: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秒内快速跌破原有基准电平。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4"/>
          <p:cNvSpPr/>
          <p:nvPr/>
        </p:nvSpPr>
        <p:spPr>
          <a:xfrm>
            <a:off x="3310200" y="2103120"/>
            <a:ext cx="14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28000"/>
              </a:lnSpc>
            </a:pPr>
            <a:r>
              <a:rPr lang="en-US" sz="1100" b="1" u="none" strike="noStrike">
                <a:solidFill>
                  <a:srgbClr val="A8B2BE"/>
                </a:solidFill>
                <a:effectLst/>
                <a:uFillTx/>
                <a:latin typeface="微软雅黑"/>
                <a:ea typeface="微软雅黑"/>
              </a:rPr>
              <a:t>▶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5"/>
          <p:cNvSpPr/>
          <p:nvPr/>
        </p:nvSpPr>
        <p:spPr>
          <a:xfrm>
            <a:off x="3465720" y="1463040"/>
            <a:ext cx="2605680" cy="1700280"/>
          </a:xfrm>
          <a:prstGeom prst="roundRect">
            <a:avLst>
              <a:gd name="adj" fmla="val 6000"/>
            </a:avLst>
          </a:prstGeom>
          <a:solidFill>
            <a:srgbClr val="FAF0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16"/>
          <p:cNvSpPr/>
          <p:nvPr/>
        </p:nvSpPr>
        <p:spPr>
          <a:xfrm>
            <a:off x="3465720" y="1463040"/>
            <a:ext cx="50040" cy="1700280"/>
          </a:xfrm>
          <a:prstGeom prst="rect">
            <a:avLst/>
          </a:prstGeom>
          <a:solidFill>
            <a:srgbClr val="A832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7"/>
          <p:cNvSpPr/>
          <p:nvPr/>
        </p:nvSpPr>
        <p:spPr>
          <a:xfrm>
            <a:off x="3740040" y="1609200"/>
            <a:ext cx="2148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400" b="1" u="none" strike="noStrike">
                <a:solidFill>
                  <a:srgbClr val="A8322B"/>
                </a:solidFill>
                <a:effectLst/>
                <a:uFillTx/>
                <a:latin typeface="微软雅黑"/>
                <a:ea typeface="微软雅黑"/>
              </a:rPr>
              <a:t>2. </a:t>
            </a:r>
            <a:r>
              <a:rPr lang="zh-CN" sz="1400" b="1" u="none" strike="noStrike">
                <a:solidFill>
                  <a:srgbClr val="A8322B"/>
                </a:solidFill>
                <a:effectLst/>
                <a:uFillTx/>
                <a:latin typeface="微软雅黑"/>
                <a:ea typeface="微软雅黑"/>
              </a:rPr>
              <a:t>被误判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8"/>
          <p:cNvSpPr/>
          <p:nvPr/>
        </p:nvSpPr>
        <p:spPr>
          <a:xfrm>
            <a:off x="3740040" y="1993320"/>
            <a:ext cx="21484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算法在极短时间内看到读数低于基准，判定载荷已被卸除。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9"/>
          <p:cNvSpPr/>
          <p:nvPr/>
        </p:nvSpPr>
        <p:spPr>
          <a:xfrm>
            <a:off x="6089760" y="2103120"/>
            <a:ext cx="14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28000"/>
              </a:lnSpc>
            </a:pPr>
            <a:r>
              <a:rPr lang="en-US" sz="1100" b="1" u="none" strike="noStrike">
                <a:solidFill>
                  <a:srgbClr val="A8B2BE"/>
                </a:solidFill>
                <a:effectLst/>
                <a:uFillTx/>
                <a:latin typeface="微软雅黑"/>
                <a:ea typeface="微软雅黑"/>
              </a:rPr>
              <a:t>▶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20"/>
          <p:cNvSpPr/>
          <p:nvPr/>
        </p:nvSpPr>
        <p:spPr>
          <a:xfrm>
            <a:off x="6245280" y="1463040"/>
            <a:ext cx="2605680" cy="1700280"/>
          </a:xfrm>
          <a:prstGeom prst="roundRect">
            <a:avLst>
              <a:gd name="adj" fmla="val 6000"/>
            </a:avLst>
          </a:prstGeom>
          <a:solidFill>
            <a:srgbClr val="FAF0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21"/>
          <p:cNvSpPr/>
          <p:nvPr/>
        </p:nvSpPr>
        <p:spPr>
          <a:xfrm>
            <a:off x="6245280" y="1463040"/>
            <a:ext cx="50040" cy="1700280"/>
          </a:xfrm>
          <a:prstGeom prst="rect">
            <a:avLst/>
          </a:prstGeom>
          <a:solidFill>
            <a:srgbClr val="A832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2"/>
          <p:cNvSpPr/>
          <p:nvPr/>
        </p:nvSpPr>
        <p:spPr>
          <a:xfrm>
            <a:off x="6519600" y="1609200"/>
            <a:ext cx="2148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400" b="1" u="none" strike="noStrike">
                <a:solidFill>
                  <a:srgbClr val="A8322B"/>
                </a:solidFill>
                <a:effectLst/>
                <a:uFillTx/>
                <a:latin typeface="微软雅黑"/>
                <a:ea typeface="微软雅黑"/>
              </a:rPr>
              <a:t>3. </a:t>
            </a:r>
            <a:r>
              <a:rPr lang="zh-CN" sz="1400" b="1" u="none" strike="noStrike">
                <a:solidFill>
                  <a:srgbClr val="A8322B"/>
                </a:solidFill>
                <a:effectLst/>
                <a:uFillTx/>
                <a:latin typeface="微软雅黑"/>
                <a:ea typeface="微软雅黑"/>
              </a:rPr>
              <a:t>执行修正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3"/>
          <p:cNvSpPr/>
          <p:nvPr/>
        </p:nvSpPr>
        <p:spPr>
          <a:xfrm>
            <a:off x="6519600" y="1993320"/>
            <a:ext cx="21484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按照卸除逻辑执行一次基线修正，把当时错误电平当作新基准。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4"/>
          <p:cNvSpPr/>
          <p:nvPr/>
        </p:nvSpPr>
        <p:spPr>
          <a:xfrm>
            <a:off x="8869680" y="2103120"/>
            <a:ext cx="14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28000"/>
              </a:lnSpc>
            </a:pPr>
            <a:r>
              <a:rPr lang="en-US" sz="1100" b="1" u="none" strike="noStrike">
                <a:solidFill>
                  <a:srgbClr val="A8B2BE"/>
                </a:solidFill>
                <a:effectLst/>
                <a:uFillTx/>
                <a:latin typeface="微软雅黑"/>
                <a:ea typeface="微软雅黑"/>
              </a:rPr>
              <a:t>▶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25"/>
          <p:cNvSpPr/>
          <p:nvPr/>
        </p:nvSpPr>
        <p:spPr>
          <a:xfrm>
            <a:off x="9025200" y="1463040"/>
            <a:ext cx="2605680" cy="170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26"/>
          <p:cNvSpPr/>
          <p:nvPr/>
        </p:nvSpPr>
        <p:spPr>
          <a:xfrm>
            <a:off x="9025200" y="1463040"/>
            <a:ext cx="50040" cy="170028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7"/>
          <p:cNvSpPr/>
          <p:nvPr/>
        </p:nvSpPr>
        <p:spPr>
          <a:xfrm>
            <a:off x="9299520" y="1609200"/>
            <a:ext cx="2148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4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4. </a:t>
            </a:r>
            <a:r>
              <a:rPr lang="zh-CN" sz="14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长期保留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8"/>
          <p:cNvSpPr/>
          <p:nvPr/>
        </p:nvSpPr>
        <p:spPr>
          <a:xfrm>
            <a:off x="9299520" y="1993320"/>
            <a:ext cx="21484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跳动早已恢复，修正却不会自动回退，偏差长期留在输出中。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29"/>
          <p:cNvSpPr/>
          <p:nvPr/>
        </p:nvSpPr>
        <p:spPr>
          <a:xfrm>
            <a:off x="685800" y="3401640"/>
            <a:ext cx="5376240" cy="2011320"/>
          </a:xfrm>
          <a:prstGeom prst="roundRect">
            <a:avLst>
              <a:gd name="adj" fmla="val 6000"/>
            </a:avLst>
          </a:prstGeom>
          <a:solidFill>
            <a:srgbClr val="FAF0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30"/>
          <p:cNvSpPr/>
          <p:nvPr/>
        </p:nvSpPr>
        <p:spPr>
          <a:xfrm>
            <a:off x="685800" y="3401640"/>
            <a:ext cx="50040" cy="2011320"/>
          </a:xfrm>
          <a:prstGeom prst="rect">
            <a:avLst/>
          </a:prstGeom>
          <a:solidFill>
            <a:srgbClr val="A832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31"/>
          <p:cNvSpPr/>
          <p:nvPr/>
        </p:nvSpPr>
        <p:spPr>
          <a:xfrm>
            <a:off x="960120" y="3547800"/>
            <a:ext cx="4827600" cy="17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400" b="1" u="none" strike="noStrike">
                <a:solidFill>
                  <a:srgbClr val="A8322B"/>
                </a:solidFill>
                <a:effectLst/>
                <a:uFillTx/>
                <a:latin typeface="微软雅黑"/>
                <a:ea typeface="微软雅黑"/>
              </a:rPr>
              <a:t>关键：修正不可撤销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补偿算法在运行中持续维护一个“基线基准”；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判定为卸除状态时，会把当时的电平接纳为新的基准；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本次事件中，接纳动作发生在跳动的谷底，而跳动随后立即恢复；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基准一旦被改写，不会因为读数回到原水平而自动回退。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32"/>
          <p:cNvSpPr/>
          <p:nvPr/>
        </p:nvSpPr>
        <p:spPr>
          <a:xfrm>
            <a:off x="6126480" y="3401640"/>
            <a:ext cx="5376240" cy="2011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33"/>
          <p:cNvSpPr/>
          <p:nvPr/>
        </p:nvSpPr>
        <p:spPr>
          <a:xfrm>
            <a:off x="6126480" y="3401640"/>
            <a:ext cx="50040" cy="201132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34"/>
          <p:cNvSpPr/>
          <p:nvPr/>
        </p:nvSpPr>
        <p:spPr>
          <a:xfrm>
            <a:off x="6400800" y="3547800"/>
            <a:ext cx="4827600" cy="17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4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与真实卸载的区别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真实卸载：载荷确实改变，新基准是正确的结果；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瞬时跳动：载荷并未改变，新基准是错误的产物；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两者在数值幅度上可能相似，仅凭幅度无法区分；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因此需要额外的判别依据，见第 </a:t>
            </a:r>
            <a:r>
              <a:rPr lang="en-US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9 </a:t>
            </a: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页。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问题原因 </a:t>
            </a:r>
            <a:r>
              <a:rPr lang="en-US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通道级证据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补偿量被永久扣减的通道，全部落在跳动最深的几条通道上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Picture 10" descr="ppt_fig03_通道影响.png"/>
          <p:cNvPicPr/>
          <p:nvPr/>
        </p:nvPicPr>
        <p:blipFill>
          <a:blip r:embed="rId2"/>
          <a:stretch/>
        </p:blipFill>
        <p:spPr>
          <a:xfrm>
            <a:off x="1097280" y="1371600"/>
            <a:ext cx="9966600" cy="46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Box 11"/>
          <p:cNvSpPr/>
          <p:nvPr/>
        </p:nvSpPr>
        <p:spPr>
          <a:xfrm>
            <a:off x="1097280" y="608976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深蓝柱为该通道的瞬时跳动深度，红柱为该通道补偿量被永久扣减的量。跳动最深的 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CH13 / CH25 / CH8 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三条通道合计扣减 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62.6 ADC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，与全部通道补偿量变化总量 −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61.6 ADC 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吻合，排除了整体漂移与随机噪声的解释。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问题原因 </a:t>
            </a:r>
            <a:r>
              <a:rPr lang="en-US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为什么此前未被发现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同类瞬时跳动的出现次数与录制时长、恒压状态强相关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Picture 10" descr="ppt_fig06_出现次数.png"/>
          <p:cNvPicPr/>
          <p:nvPr/>
        </p:nvPicPr>
        <p:blipFill>
          <a:blip r:embed="rId2"/>
          <a:stretch/>
        </p:blipFill>
        <p:spPr>
          <a:xfrm>
            <a:off x="685800" y="1463040"/>
            <a:ext cx="6994800" cy="33613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01" name="Table 11"/>
          <p:cNvGraphicFramePr/>
          <p:nvPr/>
        </p:nvGraphicFramePr>
        <p:xfrm>
          <a:off x="7882200" y="1627560"/>
          <a:ext cx="3620520" cy="2688120"/>
        </p:xfrm>
        <a:graphic>
          <a:graphicData uri="http://schemas.openxmlformats.org/drawingml/2006/table">
            <a:tbl>
              <a:tblPr/>
              <a:tblGrid>
                <a:gridCol w="2244960"/>
                <a:gridCol w="1375920"/>
              </a:tblGrid>
              <a:tr h="3837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测试类型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检出次数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</a:tr>
              <a:tr h="3837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设备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 · 10 g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反复增减荷载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设备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 · 10 g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反复增减荷载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3837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设备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 ·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恒载测试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11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设备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 ·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恒载测试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13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3837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右拇指 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·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恒载测试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22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左拇指 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·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恒载测试</a:t>
                      </a: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 </a:t>
                      </a:r>
                      <a:r>
                        <a:rPr lang="zh-CN" sz="110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202" name="TextBox 12"/>
          <p:cNvSpPr/>
          <p:nvPr/>
        </p:nvSpPr>
        <p:spPr>
          <a:xfrm>
            <a:off x="7882200" y="4316040"/>
            <a:ext cx="362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长时间恒压过程中，这类干扰出现得更频繁，每一次都可能留下一份不会消失的偏差，逐渐累积。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13"/>
          <p:cNvSpPr/>
          <p:nvPr/>
        </p:nvSpPr>
        <p:spPr>
          <a:xfrm>
            <a:off x="685800" y="5248800"/>
            <a:ext cx="10816920" cy="6580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4"/>
          <p:cNvSpPr/>
          <p:nvPr/>
        </p:nvSpPr>
        <p:spPr>
          <a:xfrm>
            <a:off x="914400" y="5321880"/>
            <a:ext cx="10359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12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这也解释了为什么该问题在短时的 </a:t>
            </a:r>
            <a:r>
              <a:rPr lang="en-US" sz="12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10 g </a:t>
            </a:r>
            <a:r>
              <a:rPr lang="zh-CN" sz="12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测试中不明显、却在长时间恒压测试中凸显。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解决方案 </a:t>
            </a:r>
            <a:r>
              <a:rPr lang="en-US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设计思路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区分二者的依据不是“幅度”，而是“变化是否持续保持”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Picture 10" descr="ppt_fig07_两种变化对比.png"/>
          <p:cNvPicPr/>
          <p:nvPr/>
        </p:nvPicPr>
        <p:blipFill>
          <a:blip r:embed="rId2"/>
          <a:stretch/>
        </p:blipFill>
        <p:spPr>
          <a:xfrm>
            <a:off x="685800" y="1444680"/>
            <a:ext cx="10816920" cy="405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ounded Rectangle 11"/>
          <p:cNvSpPr/>
          <p:nvPr/>
        </p:nvSpPr>
        <p:spPr>
          <a:xfrm>
            <a:off x="685800" y="5650920"/>
            <a:ext cx="10816920" cy="62136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2"/>
          <p:cNvSpPr/>
          <p:nvPr/>
        </p:nvSpPr>
        <p:spPr>
          <a:xfrm>
            <a:off x="914400" y="5715000"/>
            <a:ext cx="10359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12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两类变化在幅度上互相重叠，无法用阈值可靠区分；差别只在于：变化是否持续保持。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解决方案 </a:t>
            </a:r>
            <a:r>
              <a:rPr lang="en-US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设计原则与功能定位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保护层只改变“疑似卸除”这一条判定路径，不改变原有补偿行为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0"/>
          <p:cNvSpPr/>
          <p:nvPr/>
        </p:nvSpPr>
        <p:spPr>
          <a:xfrm>
            <a:off x="685800" y="1463040"/>
            <a:ext cx="3538440" cy="21027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ectangle 11"/>
          <p:cNvSpPr/>
          <p:nvPr/>
        </p:nvSpPr>
        <p:spPr>
          <a:xfrm>
            <a:off x="685800" y="1463040"/>
            <a:ext cx="50040" cy="2102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12"/>
          <p:cNvSpPr/>
          <p:nvPr/>
        </p:nvSpPr>
        <p:spPr>
          <a:xfrm>
            <a:off x="960120" y="1609200"/>
            <a:ext cx="298980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4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一、保护“形态”，不设幅度门槛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不以“偏移超过某个幅度就拒绝”为判据；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避免小幅度真实操作被误伤；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保护对象是变化的形态，不是幅度。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13"/>
          <p:cNvSpPr/>
          <p:nvPr/>
        </p:nvSpPr>
        <p:spPr>
          <a:xfrm>
            <a:off x="4316040" y="1463040"/>
            <a:ext cx="3538440" cy="21027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14"/>
          <p:cNvSpPr/>
          <p:nvPr/>
        </p:nvSpPr>
        <p:spPr>
          <a:xfrm>
            <a:off x="4316040" y="1463040"/>
            <a:ext cx="50040" cy="2102760"/>
          </a:xfrm>
          <a:prstGeom prst="rect">
            <a:avLst/>
          </a:prstGeom>
          <a:solidFill>
            <a:srgbClr val="1645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5"/>
          <p:cNvSpPr/>
          <p:nvPr/>
        </p:nvSpPr>
        <p:spPr>
          <a:xfrm>
            <a:off x="4590360" y="1609200"/>
            <a:ext cx="298980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400" b="1" u="none" strike="noStrike">
                <a:solidFill>
                  <a:srgbClr val="164572"/>
                </a:solidFill>
                <a:effectLst/>
                <a:uFillTx/>
                <a:latin typeface="微软雅黑"/>
                <a:ea typeface="微软雅黑"/>
              </a:rPr>
              <a:t>二、必须持续保持才被采纳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电平变化需在短时间内持续保持；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才被确认为新的基线基准；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抖动、毛刺、接触干扰这类“来了又走”的变化不会被采纳。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16"/>
          <p:cNvSpPr/>
          <p:nvPr/>
        </p:nvSpPr>
        <p:spPr>
          <a:xfrm>
            <a:off x="7955280" y="1463040"/>
            <a:ext cx="3547440" cy="210276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17"/>
          <p:cNvSpPr/>
          <p:nvPr/>
        </p:nvSpPr>
        <p:spPr>
          <a:xfrm>
            <a:off x="7955280" y="1463040"/>
            <a:ext cx="50040" cy="2102760"/>
          </a:xfrm>
          <a:prstGeom prst="rect">
            <a:avLst/>
          </a:prstGeom>
          <a:solidFill>
            <a:srgbClr val="2E6B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8"/>
          <p:cNvSpPr/>
          <p:nvPr/>
        </p:nvSpPr>
        <p:spPr>
          <a:xfrm>
            <a:off x="8229600" y="1609200"/>
            <a:ext cx="299880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400" b="1" u="none" strike="noStrike">
                <a:solidFill>
                  <a:srgbClr val="2E6B50"/>
                </a:solidFill>
                <a:effectLst/>
                <a:uFillTx/>
                <a:latin typeface="微软雅黑"/>
                <a:ea typeface="微软雅黑"/>
              </a:rPr>
              <a:t>三、大幅度真实卸载仍立即响应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明显卸载（例如手指抬起）不受保护层影响；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卸载响应速度与原有算法一致；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保持现有操作手感不变。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19"/>
          <p:cNvSpPr/>
          <p:nvPr/>
        </p:nvSpPr>
        <p:spPr>
          <a:xfrm>
            <a:off x="685800" y="3767400"/>
            <a:ext cx="5376240" cy="2267280"/>
          </a:xfrm>
          <a:prstGeom prst="roundRect">
            <a:avLst>
              <a:gd name="adj" fmla="val 6000"/>
            </a:avLst>
          </a:prstGeom>
          <a:solidFill>
            <a:srgbClr val="FA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Rectangle 20"/>
          <p:cNvSpPr/>
          <p:nvPr/>
        </p:nvSpPr>
        <p:spPr>
          <a:xfrm>
            <a:off x="685800" y="3767400"/>
            <a:ext cx="50040" cy="22672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21"/>
          <p:cNvSpPr/>
          <p:nvPr/>
        </p:nvSpPr>
        <p:spPr>
          <a:xfrm>
            <a:off x="960120" y="3913560"/>
            <a:ext cx="48276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500" b="1" u="none" strike="noStrike">
                <a:solidFill>
                  <a:srgbClr val="C89A3C"/>
                </a:solidFill>
                <a:effectLst/>
                <a:uFillTx/>
                <a:latin typeface="微软雅黑"/>
                <a:ea typeface="微软雅黑"/>
              </a:rPr>
              <a:t>功能定位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在原有补偿逻辑之上新增的一层识别与保护机制；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作为可开关选项启用，关闭时与原有算法结果完全一致；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不引入新的外部依赖，计算开销可忽略；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在长时间恒压场景下建议优先启用。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22"/>
          <p:cNvSpPr/>
          <p:nvPr/>
        </p:nvSpPr>
        <p:spPr>
          <a:xfrm>
            <a:off x="6126480" y="3767400"/>
            <a:ext cx="5376240" cy="2267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ectangle 23"/>
          <p:cNvSpPr/>
          <p:nvPr/>
        </p:nvSpPr>
        <p:spPr>
          <a:xfrm>
            <a:off x="6126480" y="3767400"/>
            <a:ext cx="50040" cy="226728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24"/>
          <p:cNvSpPr/>
          <p:nvPr/>
        </p:nvSpPr>
        <p:spPr>
          <a:xfrm>
            <a:off x="6400800" y="3931920"/>
            <a:ext cx="48459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99"/>
              </a:spcAft>
            </a:pPr>
            <a:r>
              <a:rPr lang="zh-CN" sz="15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开关带来的可控性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现场可做 </a:t>
            </a:r>
            <a:r>
              <a:rPr lang="en-US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A/B </a:t>
            </a: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对照：同一段数据分别用开、关两种配置回放；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出现任何疑虑时，可立即回退到原有行为，不影响既有交付；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保护参数（确认时长等）与传感器噪声水平、实际操作速度相关，需按现场标定后定版。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验证结果 </a:t>
            </a:r>
            <a:r>
              <a:rPr lang="en-US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受控复现与修复效果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把现场波形提取出来在受控条件下注入，对比三种扰动形态的长期结果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Picture 10" descr="ppt_fig04_受控复现.png"/>
          <p:cNvPicPr/>
          <p:nvPr/>
        </p:nvPicPr>
        <p:blipFill>
          <a:blip r:embed="rId2"/>
          <a:stretch/>
        </p:blipFill>
        <p:spPr>
          <a:xfrm>
            <a:off x="685800" y="1444680"/>
            <a:ext cx="6309000" cy="280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11" descr="ppt_fig05_修复对比.png"/>
          <p:cNvPicPr/>
          <p:nvPr/>
        </p:nvPicPr>
        <p:blipFill>
          <a:blip r:embed="rId3"/>
          <a:stretch/>
        </p:blipFill>
        <p:spPr>
          <a:xfrm>
            <a:off x="7205400" y="1444680"/>
            <a:ext cx="4297320" cy="29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Box 12"/>
          <p:cNvSpPr/>
          <p:nvPr/>
        </p:nvSpPr>
        <p:spPr>
          <a:xfrm>
            <a:off x="685800" y="4224600"/>
            <a:ext cx="630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受控复现：只有瞬时跳动留下永久偏移（约 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+24 ADC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），持续加载与无扰动对照都在噪声量级。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7205400" y="455364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防护启用后，同样强度的跳动造成的长期偏移由约 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+24 ADC 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降至接近 </a:t>
            </a:r>
            <a:r>
              <a:rPr lang="en-US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0</a:t>
            </a:r>
            <a:r>
              <a:rPr lang="zh-CN" sz="10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14"/>
          <p:cNvSpPr/>
          <p:nvPr/>
        </p:nvSpPr>
        <p:spPr>
          <a:xfrm>
            <a:off x="685800" y="5139000"/>
            <a:ext cx="10816920" cy="1115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15"/>
          <p:cNvSpPr/>
          <p:nvPr/>
        </p:nvSpPr>
        <p:spPr>
          <a:xfrm>
            <a:off x="960120" y="5285160"/>
            <a:ext cx="1024092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2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受控复现确认了触发条件：保护层只需针对“瞬时跳动”这一种形态即可。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真实卸载 </a:t>
            </a:r>
            <a:r>
              <a:rPr lang="en-US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90% </a:t>
            </a: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会引起约 −</a:t>
            </a:r>
            <a:r>
              <a:rPr lang="en-US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2.3 </a:t>
            </a: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万 </a:t>
            </a:r>
            <a:r>
              <a:rPr lang="en-US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ADC </a:t>
            </a: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的载荷变化，量级与上述三者不可比，其长期偏移经单独核算为 −</a:t>
            </a:r>
            <a:r>
              <a:rPr lang="en-US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0.05 ADC</a:t>
            </a: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，与无扰动对照等同，说明保护层不会带来额外偏移。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验证结果 </a:t>
            </a:r>
            <a:r>
              <a:rPr lang="en-US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对正常功能无影响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防护启用后，对真实加载、真实卸载与小信号检测的实测影响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5" name="Table 10"/>
          <p:cNvGraphicFramePr/>
          <p:nvPr/>
        </p:nvGraphicFramePr>
        <p:xfrm>
          <a:off x="685800" y="1517760"/>
          <a:ext cx="10816920" cy="3391920"/>
        </p:xfrm>
        <a:graphic>
          <a:graphicData uri="http://schemas.openxmlformats.org/drawingml/2006/table">
            <a:tbl>
              <a:tblPr/>
              <a:tblGrid>
                <a:gridCol w="4543200"/>
                <a:gridCol w="6273720"/>
              </a:tblGrid>
              <a:tr h="4845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验证项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结果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</a:tr>
              <a:tr h="4845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持续加载（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+2000 ADC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，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20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秒）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长期结果与原来完全一致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45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真实卸载（卸载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90%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长期结果与原来完全一致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4845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小幅度真实卸载（每通道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20 ~ 400 ADC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长期稳态差异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；卸载瞬间约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17 ADC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短暂差异，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5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秒内收敛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45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长时间恒载录制的漂移指标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变化 ≤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0.7%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4845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小信号（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10 g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级）保留能力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无变化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456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保护层关闭时与原有算法的一致性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完全一致（逐帧比对最大差异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0.0 ADC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266" name="Rounded Rectangle 11"/>
          <p:cNvSpPr/>
          <p:nvPr/>
        </p:nvSpPr>
        <p:spPr>
          <a:xfrm>
            <a:off x="685800" y="5029200"/>
            <a:ext cx="5376240" cy="129816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ectangle 12"/>
          <p:cNvSpPr/>
          <p:nvPr/>
        </p:nvSpPr>
        <p:spPr>
          <a:xfrm>
            <a:off x="685800" y="5029200"/>
            <a:ext cx="50040" cy="1298160"/>
          </a:xfrm>
          <a:prstGeom prst="rect">
            <a:avLst/>
          </a:prstGeom>
          <a:solidFill>
            <a:srgbClr val="2E6B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3"/>
          <p:cNvSpPr/>
          <p:nvPr/>
        </p:nvSpPr>
        <p:spPr>
          <a:xfrm>
            <a:off x="960120" y="5175360"/>
            <a:ext cx="482760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300" b="1" u="none" strike="noStrike">
                <a:solidFill>
                  <a:srgbClr val="2E6B50"/>
                </a:solidFill>
                <a:effectLst/>
                <a:uFillTx/>
                <a:latin typeface="微软雅黑"/>
                <a:ea typeface="微软雅黑"/>
              </a:rPr>
              <a:t>结论一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保护层只抑制“瞬时跳动”这一类错误修正；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对承载能力的判定、卸载响应、小信号检测均无实质影响。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14"/>
          <p:cNvSpPr/>
          <p:nvPr/>
        </p:nvSpPr>
        <p:spPr>
          <a:xfrm>
            <a:off x="6126480" y="5029200"/>
            <a:ext cx="5376240" cy="12981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ectangle 15"/>
          <p:cNvSpPr/>
          <p:nvPr/>
        </p:nvSpPr>
        <p:spPr>
          <a:xfrm>
            <a:off x="6126480" y="5029200"/>
            <a:ext cx="50040" cy="12981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6"/>
          <p:cNvSpPr/>
          <p:nvPr/>
        </p:nvSpPr>
        <p:spPr>
          <a:xfrm>
            <a:off x="6400800" y="5175360"/>
            <a:ext cx="482760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3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结论二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关闭保护层时行为与现有算法完全一致；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可作为可选功能安全引入，不存在对既有交付的回退风险。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建议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从验证到现场定版的落地路径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10"/>
          <p:cNvSpPr/>
          <p:nvPr/>
        </p:nvSpPr>
        <p:spPr>
          <a:xfrm>
            <a:off x="685800" y="1517760"/>
            <a:ext cx="2605680" cy="1828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11"/>
          <p:cNvSpPr/>
          <p:nvPr/>
        </p:nvSpPr>
        <p:spPr>
          <a:xfrm>
            <a:off x="685800" y="1517760"/>
            <a:ext cx="50040" cy="18284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960120" y="168264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5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① 固件引入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3"/>
          <p:cNvSpPr/>
          <p:nvPr/>
        </p:nvSpPr>
        <p:spPr>
          <a:xfrm>
            <a:off x="960120" y="2103120"/>
            <a:ext cx="21484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在固件中引入该保护层并保留开关，便于现场对照验证。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14"/>
          <p:cNvSpPr/>
          <p:nvPr/>
        </p:nvSpPr>
        <p:spPr>
          <a:xfrm>
            <a:off x="3465720" y="1517760"/>
            <a:ext cx="2605680" cy="1828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15"/>
          <p:cNvSpPr/>
          <p:nvPr/>
        </p:nvSpPr>
        <p:spPr>
          <a:xfrm>
            <a:off x="3465720" y="1517760"/>
            <a:ext cx="50040" cy="1828440"/>
          </a:xfrm>
          <a:prstGeom prst="rect">
            <a:avLst/>
          </a:prstGeom>
          <a:solidFill>
            <a:srgbClr val="1645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3740040" y="168264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500" b="1" u="none" strike="noStrike">
                <a:solidFill>
                  <a:srgbClr val="164572"/>
                </a:solidFill>
                <a:effectLst/>
                <a:uFillTx/>
                <a:latin typeface="微软雅黑"/>
                <a:ea typeface="微软雅黑"/>
              </a:rPr>
              <a:t>② 场景启用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3740040" y="2103120"/>
            <a:ext cx="21484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长时间恒压场景优先启用：这类场景干扰频率高，累积影响明显。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18"/>
          <p:cNvSpPr/>
          <p:nvPr/>
        </p:nvSpPr>
        <p:spPr>
          <a:xfrm>
            <a:off x="6245280" y="1517760"/>
            <a:ext cx="2605680" cy="1828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Rectangle 19"/>
          <p:cNvSpPr/>
          <p:nvPr/>
        </p:nvSpPr>
        <p:spPr>
          <a:xfrm>
            <a:off x="6245280" y="1517760"/>
            <a:ext cx="50040" cy="182844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6519600" y="168264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500" b="1" u="none" strike="noStrike">
                <a:solidFill>
                  <a:srgbClr val="C89A3C"/>
                </a:solidFill>
                <a:effectLst/>
                <a:uFillTx/>
                <a:latin typeface="微软雅黑"/>
                <a:ea typeface="微软雅黑"/>
              </a:rPr>
              <a:t>③ 参数标定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6519600" y="2103120"/>
            <a:ext cx="21484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确认时长等参数与噪声水平、操作速度相关，需在不同传感器部位分别确认后定版。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22"/>
          <p:cNvSpPr/>
          <p:nvPr/>
        </p:nvSpPr>
        <p:spPr>
          <a:xfrm>
            <a:off x="9025200" y="1517760"/>
            <a:ext cx="2605680" cy="1828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Rectangle 23"/>
          <p:cNvSpPr/>
          <p:nvPr/>
        </p:nvSpPr>
        <p:spPr>
          <a:xfrm>
            <a:off x="9025200" y="1517760"/>
            <a:ext cx="50040" cy="1828440"/>
          </a:xfrm>
          <a:prstGeom prst="rect">
            <a:avLst/>
          </a:prstGeom>
          <a:solidFill>
            <a:srgbClr val="5A65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4"/>
          <p:cNvSpPr/>
          <p:nvPr/>
        </p:nvSpPr>
        <p:spPr>
          <a:xfrm>
            <a:off x="9299520" y="168264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500" b="1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④ 后续补充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5"/>
          <p:cNvSpPr/>
          <p:nvPr/>
        </p:nvSpPr>
        <p:spPr>
          <a:xfrm>
            <a:off x="9299520" y="2103120"/>
            <a:ext cx="21484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lang="zh-CN" sz="115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补充“带操作时刻标记”的测试数据，量化保护层对真实小载荷操作的响应延迟。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ounded Rectangle 26"/>
          <p:cNvSpPr/>
          <p:nvPr/>
        </p:nvSpPr>
        <p:spPr>
          <a:xfrm>
            <a:off x="685800" y="3639240"/>
            <a:ext cx="10816920" cy="2377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27"/>
          <p:cNvSpPr/>
          <p:nvPr/>
        </p:nvSpPr>
        <p:spPr>
          <a:xfrm>
            <a:off x="685800" y="3639240"/>
            <a:ext cx="50040" cy="237708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28"/>
          <p:cNvSpPr/>
          <p:nvPr/>
        </p:nvSpPr>
        <p:spPr>
          <a:xfrm>
            <a:off x="960120" y="3785760"/>
            <a:ext cx="10268280" cy="21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  <a:spcAft>
                <a:spcPts val="700"/>
              </a:spcAft>
            </a:pPr>
            <a:r>
              <a:rPr lang="zh-CN" sz="15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结论与当前状态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该保护层有效解决了瞬时干扰导致的基线永久偏移；对真实载荷变化、卸载响应、小信号检测均无实质影响；关闭保护层时行为与现有算法完全一致。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当前已验证内容：现场数据的通道级归因、受控复现（三种扰动形态）、防护启用前后的长期偏移对比、小幅度卸载与长时间恒载的回归对比。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待确认事项：保护参数的现场标定口径（确认时长与噪声水平、操作速度的对应关系）；不同传感器部位的分别确认结果。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499"/>
              </a:spcAft>
            </a:pPr>
            <a:r>
              <a:rPr lang="zh-CN" sz="1200" b="0" u="none" strike="noStrike">
                <a:solidFill>
                  <a:srgbClr val="17212B"/>
                </a:solidFill>
                <a:effectLst/>
                <a:uFillTx/>
                <a:latin typeface="微软雅黑"/>
                <a:ea typeface="微软雅黑"/>
              </a:rPr>
              <a:t>数据与图件均可本地复现：全部图件由现场录制数据直接计算生成，脚本与原始数据随交付一并提供。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1"/>
          <p:cNvSpPr/>
          <p:nvPr/>
        </p:nvSpPr>
        <p:spPr>
          <a:xfrm>
            <a:off x="0" y="0"/>
            <a:ext cx="12191400" cy="10476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Rectangle 2"/>
          <p:cNvSpPr/>
          <p:nvPr/>
        </p:nvSpPr>
        <p:spPr>
          <a:xfrm>
            <a:off x="0" y="105120"/>
            <a:ext cx="3885840" cy="40680"/>
          </a:xfrm>
          <a:prstGeom prst="rect">
            <a:avLst/>
          </a:prstGeom>
          <a:solidFill>
            <a:srgbClr val="C89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3"/>
          <p:cNvSpPr/>
          <p:nvPr/>
        </p:nvSpPr>
        <p:spPr>
          <a:xfrm>
            <a:off x="685800" y="38412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8000"/>
              </a:lnSpc>
            </a:pP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附录 </a:t>
            </a:r>
            <a:r>
              <a:rPr lang="en-US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260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数据与图件清单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4"/>
          <p:cNvSpPr/>
          <p:nvPr/>
        </p:nvSpPr>
        <p:spPr>
          <a:xfrm>
            <a:off x="685800" y="9691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全部图件由现场录制数据直接计算生成，可在本地复现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5" descr="modutech_logo.png"/>
          <p:cNvPicPr/>
          <p:nvPr/>
        </p:nvPicPr>
        <p:blipFill>
          <a:blip r:embed="rId1"/>
          <a:stretch/>
        </p:blipFill>
        <p:spPr>
          <a:xfrm>
            <a:off x="10634400" y="365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Box 6"/>
          <p:cNvSpPr/>
          <p:nvPr/>
        </p:nvSpPr>
        <p:spPr>
          <a:xfrm>
            <a:off x="9281160" y="402480"/>
            <a:ext cx="124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28000"/>
              </a:lnSpc>
            </a:pPr>
            <a:r>
              <a:rPr lang="zh-CN" sz="1150" b="1" u="none" strike="noStrike">
                <a:solidFill>
                  <a:srgbClr val="0B2E4F"/>
                </a:solidFill>
                <a:effectLst/>
                <a:uFillTx/>
                <a:latin typeface="微软雅黑"/>
                <a:ea typeface="微软雅黑"/>
              </a:rPr>
              <a:t>模量科技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7"/>
          <p:cNvSpPr/>
          <p:nvPr/>
        </p:nvSpPr>
        <p:spPr>
          <a:xfrm>
            <a:off x="685800" y="6428160"/>
            <a:ext cx="10816920" cy="10440"/>
          </a:xfrm>
          <a:prstGeom prst="rect">
            <a:avLst/>
          </a:prstGeom>
          <a:solidFill>
            <a:srgbClr val="D8D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8"/>
          <p:cNvSpPr/>
          <p:nvPr/>
        </p:nvSpPr>
        <p:spPr>
          <a:xfrm>
            <a:off x="685800" y="6501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模量科技 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Modutech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触觉阵列时漂补偿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K10 </a:t>
            </a:r>
            <a:r>
              <a:rPr lang="zh-CN" sz="90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瞬态防护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9"/>
          <p:cNvSpPr/>
          <p:nvPr/>
        </p:nvSpPr>
        <p:spPr>
          <a:xfrm>
            <a:off x="10424160" y="650124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28000"/>
              </a:lnSpc>
            </a:pPr>
            <a:r>
              <a:rPr lang="en-US" sz="1000" b="1" u="none" strike="noStrike">
                <a:solidFill>
                  <a:srgbClr val="0B2E4F"/>
                </a:solidFill>
                <a:effectLst/>
                <a:uFillTx/>
                <a:latin typeface="Arial"/>
                <a:ea typeface="微软雅黑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9" name="Table 10"/>
          <p:cNvGraphicFramePr/>
          <p:nvPr/>
        </p:nvGraphicFramePr>
        <p:xfrm>
          <a:off x="685800" y="1517760"/>
          <a:ext cx="10816920" cy="3437640"/>
        </p:xfrm>
        <a:graphic>
          <a:graphicData uri="http://schemas.openxmlformats.org/drawingml/2006/table">
            <a:tbl>
              <a:tblPr/>
              <a:tblGrid>
                <a:gridCol w="1081440"/>
                <a:gridCol w="6706440"/>
                <a:gridCol w="3028680"/>
              </a:tblGrid>
              <a:tr h="42948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编号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内容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本说明中的位置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E4F"/>
                    </a:solidFill>
                  </a:tcPr>
                </a:tc>
              </a:tr>
              <a:tr h="42948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图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现象总览：原始读数与补偿输出对比，显示跳动位置与基线抬升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第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4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页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图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局部放大：事件前后基线的台阶对比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第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5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页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42948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图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3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通道影响：跳动幅度与补偿量变化的通道级对应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第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7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页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图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4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出现次数：同类跳动在不同测试中的分布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第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8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页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42948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图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5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两种变化的形态对比：来了又走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/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来了就留下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第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9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页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图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6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受控复现：不同扰动形态是否造成永久偏移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第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11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页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429480"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图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7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修复对比：保护层启用前后的长期偏移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27360" rIns="73080" bIns="2736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第 </a:t>
                      </a:r>
                      <a:r>
                        <a:rPr lang="en-US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11 </a:t>
                      </a:r>
                      <a:r>
                        <a:rPr lang="zh-CN" sz="1150" b="0" u="none" strike="noStrike">
                          <a:solidFill>
                            <a:srgbClr val="17212B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页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0" name="Rounded Rectangle 11"/>
          <p:cNvSpPr/>
          <p:nvPr/>
        </p:nvSpPr>
        <p:spPr>
          <a:xfrm>
            <a:off x="685800" y="5175360"/>
            <a:ext cx="10816920" cy="8409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12"/>
          <p:cNvSpPr/>
          <p:nvPr/>
        </p:nvSpPr>
        <p:spPr>
          <a:xfrm>
            <a:off x="914400" y="5285160"/>
            <a:ext cx="1035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配套文档：《瞬态干扰基线偏移问题说明（甲方版）》；原始数据：左拇指指腹恒载录制 </a:t>
            </a:r>
            <a:r>
              <a:rPr lang="en-US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2026-10-14</a:t>
            </a:r>
            <a:r>
              <a:rPr lang="zh-CN" sz="1150" b="0" u="none" strike="noStrike">
                <a:solidFill>
                  <a:srgbClr val="5A6572"/>
                </a:solidFill>
                <a:effectLst/>
                <a:uFillTx/>
                <a:latin typeface="微软雅黑"/>
                <a:ea typeface="微软雅黑"/>
              </a:rPr>
              <a:t>；验证脚本与结果文件随交付提供。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/>
  <dcterms:modified xsi:type="dcterms:W3CDTF">2026-10-14T16:42:42Z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