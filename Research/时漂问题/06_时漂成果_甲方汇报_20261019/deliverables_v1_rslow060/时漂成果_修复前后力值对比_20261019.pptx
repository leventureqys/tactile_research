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256032" y="4443984"/>
            <a:ext cx="1920240" cy="32004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1170432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8587A"/>
                </a:solidFill>
                <a:latin typeface="Microsoft YaHei"/>
              </a:rPr>
              <a:t>模量科技  Modutech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737360"/>
            <a:ext cx="80467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3800" b="1">
                <a:solidFill>
                  <a:srgbClr val="0A1020"/>
                </a:solidFill>
                <a:latin typeface="Microsoft YaHei"/>
              </a:rPr>
              <a:t>长时持续按压下的</a:t>
            </a:r>
          </a:p>
          <a:p>
            <a:pPr algn="l">
              <a:lnSpc>
                <a:spcPct val="126000"/>
              </a:lnSpc>
            </a:pPr>
            <a:r>
              <a:rPr sz="3800" b="1">
                <a:solidFill>
                  <a:srgbClr val="0A1020"/>
                </a:solidFill>
                <a:latin typeface="Microsoft YaHei"/>
              </a:rPr>
              <a:t>力值稳定性成果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566160"/>
            <a:ext cx="8961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0B2E96"/>
                </a:solidFill>
                <a:latin typeface="Microsoft YaHei"/>
              </a:rPr>
              <a:t>时漂补偿算法升级 · 修复前后力值对比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590288"/>
            <a:ext cx="8595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250" b="0">
                <a:solidFill>
                  <a:srgbClr val="48587A"/>
                </a:solidFill>
                <a:latin typeface="Microsoft YaHei"/>
              </a:rPr>
              <a:t>测试部位：拇指指腹（48 分钟持续按压）、掌心（96 分钟持续按压）</a:t>
            </a:r>
          </a:p>
          <a:p>
            <a:pPr algn="l">
              <a:lnSpc>
                <a:spcPct val="162000"/>
              </a:lnSpc>
            </a:pPr>
            <a:r>
              <a:rPr sz="1250" b="0">
                <a:solidFill>
                  <a:srgbClr val="48587A"/>
                </a:solidFill>
                <a:latin typeface="Microsoft YaHei"/>
              </a:rPr>
              <a:t>对照方式：同一份实测数据、同一套现场参数，只切换基线更新策略</a:t>
            </a:r>
          </a:p>
          <a:p>
            <a:pPr algn="l">
              <a:lnSpc>
                <a:spcPct val="162000"/>
              </a:lnSpc>
            </a:pPr>
            <a:r>
              <a:rPr sz="1250" b="0">
                <a:solidFill>
                  <a:srgbClr val="48587A"/>
                </a:solidFill>
                <a:latin typeface="Microsoft YaHei"/>
              </a:rPr>
              <a:t>评价口径：读数首尾变化、全程起伏、持续按压中的上行漂移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6053328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0B8"/>
                </a:solidFill>
                <a:latin typeface="Microsoft YaHei"/>
              </a:rPr>
              <a:t>汇报单位：模量科技　|　2026-10-19</a:t>
            </a:r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4572000"/>
            <a:ext cx="960120" cy="960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2560" y="566928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8587A"/>
                </a:solidFill>
                <a:latin typeface="Arial"/>
              </a:rPr>
              <a:t>MODUTECH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9728"/>
            <a:ext cx="3886200" cy="32004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A1020"/>
                </a:solidFill>
                <a:latin typeface="Microsoft YaHei"/>
              </a:rPr>
              <a:t>一页结论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8587A"/>
                </a:solidFill>
                <a:latin typeface="Microsoft YaHei"/>
              </a:rPr>
              <a:t>同一份实测数据，升级前后长时按压力值的稳定性差距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347472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4023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8587A"/>
                </a:solidFill>
                <a:latin typeface="Microsoft YaHei"/>
              </a:rPr>
              <a:t>模量科技  Modutech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17352" cy="10972"/>
          </a:xfrm>
          <a:prstGeom prst="rect">
            <a:avLst/>
          </a:prstGeom>
          <a:solidFill>
            <a:srgbClr val="DD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模量科技  Modutech   |   触觉阵列时漂补偿 · 长时恒载力值稳定性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9224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426464"/>
            <a:ext cx="3538728" cy="1645920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85800" y="1426464"/>
            <a:ext cx="50292" cy="1645920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41832" y="1591056"/>
            <a:ext cx="3081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3A0B8"/>
                </a:solidFill>
                <a:latin typeface="Microsoft YaHei"/>
              </a:rPr>
              <a:t>拇指指腹 · 48 分钟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1847088"/>
            <a:ext cx="308152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55DFC"/>
                </a:solidFill>
                <a:latin typeface="Microsoft YaHei"/>
              </a:rPr>
              <a:t>+3.47 → +0.02 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2359152"/>
            <a:ext cx="308152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8587A"/>
                </a:solidFill>
                <a:latin typeface="Microsoft YaHei"/>
              </a:rPr>
              <a:t>读数首尾变化：升级前 +3.47 N，升级后 +0.02 N，降幅 99%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5968" y="1426464"/>
            <a:ext cx="3538728" cy="1645920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315968" y="1426464"/>
            <a:ext cx="50292" cy="1645920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72000" y="1591056"/>
            <a:ext cx="3081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3A0B8"/>
                </a:solidFill>
                <a:latin typeface="Microsoft YaHei"/>
              </a:rPr>
              <a:t>掌心 · 96 分钟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1847088"/>
            <a:ext cx="308152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55DFC"/>
                </a:solidFill>
                <a:latin typeface="Microsoft YaHei"/>
              </a:rPr>
              <a:t>+1.34 → -0.64 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359152"/>
            <a:ext cx="308152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8587A"/>
                </a:solidFill>
                <a:latin typeface="Microsoft YaHei"/>
              </a:rPr>
              <a:t>读数首尾变化：升级前 +1.34 N，升级后 -0.64 N，降幅 53%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46136" y="1426464"/>
            <a:ext cx="3557016" cy="1645920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7946136" y="1426464"/>
            <a:ext cx="50292" cy="1645920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02167" y="1591056"/>
            <a:ext cx="30998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3A0B8"/>
                </a:solidFill>
                <a:latin typeface="Microsoft YaHei"/>
              </a:rPr>
              <a:t>持续按压中的上行漂移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2167" y="1847088"/>
            <a:ext cx="309981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B2E96"/>
                </a:solidFill>
                <a:latin typeface="Microsoft YaHei"/>
              </a:rPr>
              <a:t>3.64 → 0.20 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7" y="2359152"/>
            <a:ext cx="3099816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8587A"/>
                </a:solidFill>
                <a:latin typeface="Microsoft YaHei"/>
              </a:rPr>
              <a:t>拇指读数「越按越高」的幅度；掌心 1.47 N → 0.15 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3218688"/>
            <a:ext cx="45720" cy="5669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3227832"/>
            <a:ext cx="10561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50" b="0">
                <a:solidFill>
                  <a:srgbClr val="48587A"/>
                </a:solidFill>
                <a:latin typeface="Microsoft YaHei"/>
              </a:rPr>
              <a:t>升级前，补偿在长时按压中逐级失效，显示力值被顶起来；升级后基线只在确认空载时才更新，受载期间保持冻结，补偿整段有效，读数稳住不再上爬。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85800" y="4023360"/>
          <a:ext cx="10817352" cy="15361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20240"/>
                <a:gridCol w="1600200"/>
                <a:gridCol w="1920240"/>
                <a:gridCol w="1920240"/>
                <a:gridCol w="1728216"/>
                <a:gridCol w="1728216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测试部位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持续按压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升级前首尾变化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升级后首尾变化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升级前上行漂移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升级后上行漂移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拇指指腹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48 分钟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+3.47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+0.02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3.64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0.20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掌心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96 分钟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+1.34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-0.64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1.47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0.15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第三组（待补）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685800" y="5961888"/>
            <a:ext cx="108173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3A0B8"/>
                </a:solidFill>
                <a:latin typeface="Microsoft YaHei"/>
              </a:rPr>
              <a:t>显示力值单位 N，按现场标定系数折算；上行漂移指持续按压期间读数相对起始值自己往上爬的最大幅度。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9728"/>
            <a:ext cx="3886200" cy="32004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A1020"/>
                </a:solidFill>
                <a:latin typeface="Microsoft YaHei"/>
              </a:rPr>
              <a:t>对照口径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8587A"/>
                </a:solidFill>
                <a:latin typeface="Microsoft YaHei"/>
              </a:rPr>
              <a:t>为什么这组对比可以直接采信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347472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4023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8587A"/>
                </a:solidFill>
                <a:latin typeface="Microsoft YaHei"/>
              </a:rPr>
              <a:t>模量科技  Modutech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17352" cy="10972"/>
          </a:xfrm>
          <a:prstGeom prst="rect">
            <a:avLst/>
          </a:prstGeom>
          <a:solidFill>
            <a:srgbClr val="DD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模量科技  Modutech   |   触觉阵列时漂补偿 · 长时恒载力值稳定性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9224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444752"/>
            <a:ext cx="3538728" cy="2048256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85800" y="1444752"/>
            <a:ext cx="50292" cy="2048256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41832" y="1609344"/>
            <a:ext cx="3063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A1020"/>
                </a:solidFill>
                <a:latin typeface="Microsoft YaHei"/>
              </a:rPr>
              <a:t>同一份实测数据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1993392"/>
            <a:ext cx="3063240" cy="138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20" b="0">
                <a:solidFill>
                  <a:srgbClr val="48587A"/>
                </a:solidFill>
                <a:latin typeface="Microsoft YaHei"/>
              </a:rPr>
              <a:t>两组都是设备真实录制，升级前后跑的是完全相同的输入，不存在「换了数据所以更好看」。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1444752"/>
            <a:ext cx="3538728" cy="2048256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325112" y="1444752"/>
            <a:ext cx="50292" cy="2048256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81144" y="1609344"/>
            <a:ext cx="3063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A1020"/>
                </a:solidFill>
                <a:latin typeface="Microsoft YaHei"/>
              </a:rPr>
              <a:t>同一套现场参数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1993392"/>
            <a:ext cx="3063240" cy="138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20" b="0">
                <a:solidFill>
                  <a:srgbClr val="48587A"/>
                </a:solidFill>
                <a:latin typeface="Microsoft YaHei"/>
              </a:rPr>
              <a:t>除基线更新策略外，其余参数与现场一致；升级前后唯一的差别就是这一项。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64424" y="1444752"/>
            <a:ext cx="3538728" cy="2048256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7964424" y="1444752"/>
            <a:ext cx="50292" cy="2048256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0456" y="1609344"/>
            <a:ext cx="3063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A1020"/>
                </a:solidFill>
                <a:latin typeface="Microsoft YaHei"/>
              </a:rPr>
              <a:t>三项可复核指标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1993392"/>
            <a:ext cx="3063240" cy="138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20" b="0">
                <a:solidFill>
                  <a:srgbClr val="48587A"/>
                </a:solidFill>
                <a:latin typeface="Microsoft YaHei"/>
              </a:rPr>
              <a:t>首尾变化（稳不稳）、全程起伏（飘不飘）、上行漂移（会不会越按越高），全部由原始录制直接计算。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712463"/>
            <a:ext cx="10817352" cy="786384"/>
          </a:xfrm>
          <a:prstGeom prst="rect">
            <a:avLst/>
          </a:prstGeom>
          <a:solidFill>
            <a:srgbClr val="EC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2688" y="384048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150" b="0">
                <a:solidFill>
                  <a:srgbClr val="0B2E96"/>
                </a:solidFill>
                <a:latin typeface="Microsoft YaHei"/>
              </a:rPr>
              <a:t>传感器原始信号本身变化很小：拇指指腹 48 分钟仅 +0.39 N，掌心 96 分钟 +0.73 N。升级前的上飘主要来自补偿链路本身，不是传感器读数异常。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85800" y="4718304"/>
          <a:ext cx="10817352" cy="1097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21992"/>
                <a:gridCol w="1920240"/>
                <a:gridCol w="2286000"/>
                <a:gridCol w="219456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持续按压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原始信号变化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升级前读数变化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升级后读数变化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拇指指腹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48 分钟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+0.39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+3.47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+0.02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掌心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96 分钟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+0.73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+1.34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-0.64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9728"/>
            <a:ext cx="3886200" cy="32004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A1020"/>
                </a:solidFill>
                <a:latin typeface="Microsoft YaHei"/>
              </a:rPr>
              <a:t>拇指指腹 · 修复前后力值曲线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8587A"/>
                </a:solidFill>
                <a:latin typeface="Microsoft YaHei"/>
              </a:rPr>
              <a:t>48 分钟持续按压，显示力值的全程走势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347472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4023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8587A"/>
                </a:solidFill>
                <a:latin typeface="Microsoft YaHei"/>
              </a:rPr>
              <a:t>模量科技  Modutech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17352" cy="10972"/>
          </a:xfrm>
          <a:prstGeom prst="rect">
            <a:avLst/>
          </a:prstGeom>
          <a:solidFill>
            <a:srgbClr val="DD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模量科技  Modutech   |   触觉阵列时漂补偿 · 长时恒载力值稳定性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9224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04</a:t>
            </a:r>
          </a:p>
        </p:txBody>
      </p:sp>
      <p:pic>
        <p:nvPicPr>
          <p:cNvPr id="11" name="Picture 10" descr="A1_thumb_a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35024"/>
            <a:ext cx="10817352" cy="412526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85800" y="5705856"/>
            <a:ext cx="45720" cy="548640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715000"/>
            <a:ext cx="10561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50" b="0">
                <a:solidFill>
                  <a:srgbClr val="48587A"/>
                </a:solidFill>
                <a:latin typeface="Microsoft YaHei"/>
              </a:rPr>
              <a:t>升级前（灰）：读数从 28.26 N 一路抬到 31.73 N；升级后（蓝）：整段保持在 28.08 N 附近，首尾变化 +0.02 N。灰虚线为传感器原始信号，自身仅变化 +0.39 N。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9728"/>
            <a:ext cx="3886200" cy="32004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A1020"/>
                </a:solidFill>
                <a:latin typeface="Microsoft YaHei"/>
              </a:rPr>
              <a:t>拇指指腹 · 力值漂移对比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8587A"/>
                </a:solidFill>
                <a:latin typeface="Microsoft YaHei"/>
              </a:rPr>
              <a:t>把起始读数拉平后，升级前后的漂移轨迹差异一目了然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347472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4023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8587A"/>
                </a:solidFill>
                <a:latin typeface="Microsoft YaHei"/>
              </a:rPr>
              <a:t>模量科技  Modutech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17352" cy="10972"/>
          </a:xfrm>
          <a:prstGeom prst="rect">
            <a:avLst/>
          </a:prstGeom>
          <a:solidFill>
            <a:srgbClr val="DD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模量科技  Modutech   |   触觉阵列时漂补偿 · 长时恒载力值稳定性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9224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05</a:t>
            </a:r>
          </a:p>
        </p:txBody>
      </p:sp>
      <p:pic>
        <p:nvPicPr>
          <p:cNvPr id="11" name="Picture 10" descr="A2_thumb_dr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35024"/>
            <a:ext cx="10817352" cy="412526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85800" y="5705856"/>
            <a:ext cx="45720" cy="548640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715000"/>
            <a:ext cx="10561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50" b="0">
                <a:solidFill>
                  <a:srgbClr val="48587A"/>
                </a:solidFill>
                <a:latin typeface="Microsoft YaHei"/>
              </a:rPr>
              <a:t>升级前漂移持续单向累积、伴随多次台阶式上跳，全程起伏 3.76 N；升级后漂移贴住零线，全程起伏 0.52 N，上行漂移由 3.64 N 降到 0.20 N。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9728"/>
            <a:ext cx="3886200" cy="32004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A1020"/>
                </a:solidFill>
                <a:latin typeface="Microsoft YaHei"/>
              </a:rPr>
              <a:t>掌心 · 修复前后力值曲线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8587A"/>
                </a:solidFill>
                <a:latin typeface="Microsoft YaHei"/>
              </a:rPr>
              <a:t>96 分钟持续按压，显示力值的全程走势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347472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4023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8587A"/>
                </a:solidFill>
                <a:latin typeface="Microsoft YaHei"/>
              </a:rPr>
              <a:t>模量科技  Modutech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17352" cy="10972"/>
          </a:xfrm>
          <a:prstGeom prst="rect">
            <a:avLst/>
          </a:prstGeom>
          <a:solidFill>
            <a:srgbClr val="DD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模量科技  Modutech   |   触觉阵列时漂补偿 · 长时恒载力值稳定性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9224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06</a:t>
            </a:r>
          </a:p>
        </p:txBody>
      </p:sp>
      <p:pic>
        <p:nvPicPr>
          <p:cNvPr id="11" name="Picture 10" descr="A3_palm_a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35024"/>
            <a:ext cx="10817352" cy="412526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85800" y="5705856"/>
            <a:ext cx="45720" cy="548640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715000"/>
            <a:ext cx="10561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50" b="0">
                <a:solidFill>
                  <a:srgbClr val="48587A"/>
                </a:solidFill>
                <a:latin typeface="Microsoft YaHei"/>
              </a:rPr>
              <a:t>升级前（灰）：读数由 31.26 N 变化到 32.60 N；升级后（蓝）：整段保持在 28.61 N 附近，首尾变化 -0.64 N。原始信号自身变化 +0.73 N。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9728"/>
            <a:ext cx="3886200" cy="32004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A1020"/>
                </a:solidFill>
                <a:latin typeface="Microsoft YaHei"/>
              </a:rPr>
              <a:t>掌心 · 力值漂移对比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8587A"/>
                </a:solidFill>
                <a:latin typeface="Microsoft YaHei"/>
              </a:rPr>
              <a:t>接近一百分钟的恒载，升级后不再单向爬升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347472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4023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8587A"/>
                </a:solidFill>
                <a:latin typeface="Microsoft YaHei"/>
              </a:rPr>
              <a:t>模量科技  Modutech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17352" cy="10972"/>
          </a:xfrm>
          <a:prstGeom prst="rect">
            <a:avLst/>
          </a:prstGeom>
          <a:solidFill>
            <a:srgbClr val="DD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模量科技  Modutech   |   触觉阵列时漂补偿 · 长时恒载力值稳定性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9224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07</a:t>
            </a:r>
          </a:p>
        </p:txBody>
      </p:sp>
      <p:pic>
        <p:nvPicPr>
          <p:cNvPr id="11" name="Picture 10" descr="A4_palm_dr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35024"/>
            <a:ext cx="10817352" cy="412526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85800" y="5705856"/>
            <a:ext cx="45720" cy="548640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715000"/>
            <a:ext cx="10561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50" b="0">
                <a:solidFill>
                  <a:srgbClr val="48587A"/>
                </a:solidFill>
                <a:latin typeface="Microsoft YaHei"/>
              </a:rPr>
              <a:t>升级前漂移 +1.34 N、全程起伏 1.61 N；升级后漂移 -0.64 N、全程起伏 0.93 N，上行漂移由 1.47 N 降到 0.15 N。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9728"/>
            <a:ext cx="3886200" cy="32004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A1020"/>
                </a:solidFill>
                <a:latin typeface="Microsoft YaHei"/>
              </a:rPr>
              <a:t>汇总对比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8587A"/>
                </a:solidFill>
                <a:latin typeface="Microsoft YaHei"/>
              </a:rPr>
              <a:t>两组实测数据的力值稳定性对照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347472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4023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8587A"/>
                </a:solidFill>
                <a:latin typeface="Microsoft YaHei"/>
              </a:rPr>
              <a:t>模量科技  Modutech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17352" cy="10972"/>
          </a:xfrm>
          <a:prstGeom prst="rect">
            <a:avLst/>
          </a:prstGeom>
          <a:solidFill>
            <a:srgbClr val="DD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模量科技  Modutech   |   触觉阵列时漂补偿 · 长时恒载力值稳定性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9224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08</a:t>
            </a:r>
          </a:p>
        </p:txBody>
      </p:sp>
      <p:pic>
        <p:nvPicPr>
          <p:cNvPr id="11" name="Picture 10" descr="A5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43584"/>
            <a:ext cx="10332720" cy="3321231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85800" y="4864608"/>
          <a:ext cx="10817351" cy="13898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81912"/>
                <a:gridCol w="1325880"/>
                <a:gridCol w="1600200"/>
                <a:gridCol w="1600200"/>
                <a:gridCol w="1417320"/>
                <a:gridCol w="1417320"/>
                <a:gridCol w="1874519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测试部位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持续按压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升级前首尾变化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升级后首尾变化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升级前起伏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升级后起伏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上行漂移（前 → 后）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拇指指腹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48 分钟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+3.47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+0.02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3.76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0.52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3.64 → 0.20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掌心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96 分钟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+1.34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-0.64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1.61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0.93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1.47 → 0.15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第三组（待补）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85800" y="6053328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3A0B8"/>
                </a:solidFill>
                <a:latin typeface="Microsoft YaHei"/>
              </a:rPr>
              <a:t>起伏 = 评价段内读数的最大值与最小值之差；上行漂移 = 读数相对起始值向上累积的最大幅度。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9728"/>
            <a:ext cx="3886200" cy="32004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A1020"/>
                </a:solidFill>
                <a:latin typeface="Microsoft YaHei"/>
              </a:rPr>
              <a:t>稳定性：越按越高的趋势消失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8587A"/>
                </a:solidFill>
                <a:latin typeface="Microsoft YaHei"/>
              </a:rPr>
              <a:t>长时按压最要紧的不是漂多少，而是会不会自己往上走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347472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4023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8587A"/>
                </a:solidFill>
                <a:latin typeface="Microsoft YaHei"/>
              </a:rPr>
              <a:t>模量科技  Modutech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17352" cy="10972"/>
          </a:xfrm>
          <a:prstGeom prst="rect">
            <a:avLst/>
          </a:prstGeom>
          <a:solidFill>
            <a:srgbClr val="DD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模量科技  Modutech   |   触觉阵列时漂补偿 · 长时恒载力值稳定性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9224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09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426464"/>
            <a:ext cx="3538728" cy="1572768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85800" y="1426464"/>
            <a:ext cx="50292" cy="157276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41832" y="1591056"/>
            <a:ext cx="3081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3A0B8"/>
                </a:solidFill>
                <a:latin typeface="Microsoft YaHei"/>
              </a:rPr>
              <a:t>拇指指腹 · 上行漂移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1847088"/>
            <a:ext cx="308152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55DFC"/>
                </a:solidFill>
                <a:latin typeface="Microsoft YaHei"/>
              </a:rPr>
              <a:t>3.64 → 0.20 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2359152"/>
            <a:ext cx="3081528" cy="548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8587A"/>
                </a:solidFill>
                <a:latin typeface="Microsoft YaHei"/>
              </a:rPr>
              <a:t>读数自己往上爬的幅度下降 94%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5968" y="1426464"/>
            <a:ext cx="3538728" cy="1572768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315968" y="1426464"/>
            <a:ext cx="50292" cy="1572768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72000" y="1591056"/>
            <a:ext cx="3081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3A0B8"/>
                </a:solidFill>
                <a:latin typeface="Microsoft YaHei"/>
              </a:rPr>
              <a:t>掌心 · 上行漂移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1847088"/>
            <a:ext cx="308152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B2E96"/>
                </a:solidFill>
                <a:latin typeface="Microsoft YaHei"/>
              </a:rPr>
              <a:t>1.47 → 0.15 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359152"/>
            <a:ext cx="3081528" cy="548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8587A"/>
                </a:solidFill>
                <a:latin typeface="Microsoft YaHei"/>
              </a:rPr>
              <a:t>接近一百分钟恒载下不再单向爬升，降幅 90%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46136" y="1426464"/>
            <a:ext cx="3557016" cy="1572768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7946136" y="1426464"/>
            <a:ext cx="50292" cy="157276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02167" y="1591056"/>
            <a:ext cx="30998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3A0B8"/>
                </a:solidFill>
                <a:latin typeface="Microsoft YaHei"/>
              </a:rPr>
              <a:t>读数抖动（每秒变化）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2167" y="1847088"/>
            <a:ext cx="309981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55DFC"/>
                </a:solidFill>
                <a:latin typeface="Microsoft YaHei"/>
              </a:rPr>
              <a:t>0.23 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7" y="2359152"/>
            <a:ext cx="3099816" cy="548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8587A"/>
                </a:solidFill>
                <a:latin typeface="Microsoft YaHei"/>
              </a:rPr>
              <a:t>与升级前一致（0.22 → 0.23 N）：抖动来自传感器信号本身，稳定不是靠加大平滑换来的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85800" y="3273552"/>
          <a:ext cx="10817352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36392"/>
                <a:gridCol w="1920240"/>
                <a:gridCol w="1920240"/>
                <a:gridCol w="1920240"/>
                <a:gridCol w="19202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拇指指腹 升级前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拇指指腹 升级后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掌心 升级前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掌心 升级后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上行漂移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3.64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0.20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1.47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0.15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全程起伏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3.76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0.52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1.61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0.93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末段趋势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+0.005 N/分钟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-0.002 N/分钟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+0.008 N/分钟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-0.001 N/分钟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稳定性维持（末段 / 首段）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17%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110%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1%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142%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685800" y="5340096"/>
            <a:ext cx="45720" cy="5669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32688" y="5349240"/>
            <a:ext cx="10561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50" b="0">
                <a:solidFill>
                  <a:srgbClr val="48587A"/>
                </a:solidFill>
                <a:latin typeface="Microsoft YaHei"/>
              </a:rPr>
              <a:t>末段趋势接近零或为负，意味着按得再久读数也不会自己往上爬；稳定性维持接近或超过 100%，意味着补偿在整段按压期间仍在有效工作。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9728"/>
            <a:ext cx="3886200" cy="32004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A1020"/>
                </a:solidFill>
                <a:latin typeface="Microsoft YaHei"/>
              </a:rPr>
              <a:t>第三组数据（预留）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8587A"/>
                </a:solidFill>
                <a:latin typeface="Microsoft YaHei"/>
              </a:rPr>
              <a:t>拓展部位实测到位后按同一口径并入，版面不改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347472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4023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8587A"/>
                </a:solidFill>
                <a:latin typeface="Microsoft YaHei"/>
              </a:rPr>
              <a:t>模量科技  Modutech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17352" cy="10972"/>
          </a:xfrm>
          <a:prstGeom prst="rect">
            <a:avLst/>
          </a:prstGeom>
          <a:solidFill>
            <a:srgbClr val="DD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模量科技  Modutech   |   触觉阵列时漂补偿 · 长时恒载力值稳定性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9224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444752"/>
            <a:ext cx="10817352" cy="1298448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85800" y="1444752"/>
            <a:ext cx="50292" cy="1298448"/>
          </a:xfrm>
          <a:prstGeom prst="rect">
            <a:avLst/>
          </a:prstGeom>
          <a:solidFill>
            <a:srgbClr val="93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1609344"/>
            <a:ext cx="10287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48587A"/>
                </a:solidFill>
                <a:latin typeface="Microsoft YaHei"/>
              </a:rPr>
              <a:t>本报告固定按「拇指指腹 / 掌心 / 第三组」三栏组织。第三组部位的实测录制到位后，沿用与现有两组完全相同的对照方式与指标定义，直接补入表格与汇总图，叙述结构与版面均无需改动。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85800" y="3035808"/>
          <a:ext cx="10817352" cy="16093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20240"/>
                <a:gridCol w="1737360"/>
                <a:gridCol w="1463040"/>
                <a:gridCol w="1965960"/>
                <a:gridCol w="1965960"/>
                <a:gridCol w="1764792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测试部位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状态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持续按压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升级前首尾变化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升级后首尾变化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上行漂移（前 → 后）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拇指指腹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已完成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48 分钟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+3.47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+0.02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3.64 → 0.20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掌心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已完成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96 分钟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+1.34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-0.64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1.47 → 0.15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第三组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录制中 / 待补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685800" y="5358384"/>
            <a:ext cx="45720" cy="47548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5367528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50" b="0">
                <a:solidFill>
                  <a:srgbClr val="48587A"/>
                </a:solidFill>
                <a:latin typeface="Microsoft YaHei"/>
              </a:rPr>
              <a:t>第三组数据到位后，本页与第 8 页汇总图同步补一列，其余页面无需改动。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9728"/>
            <a:ext cx="3886200" cy="32004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A1020"/>
                </a:solidFill>
                <a:latin typeface="Microsoft YaHei"/>
              </a:rPr>
              <a:t>结论与下一步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8587A"/>
                </a:solidFill>
                <a:latin typeface="Microsoft YaHei"/>
              </a:rPr>
              <a:t>长时按压力值的稳定性已经具备可用性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347472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4023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8587A"/>
                </a:solidFill>
                <a:latin typeface="Microsoft YaHei"/>
              </a:rPr>
              <a:t>模量科技  Modutech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17352" cy="10972"/>
          </a:xfrm>
          <a:prstGeom prst="rect">
            <a:avLst/>
          </a:prstGeom>
          <a:solidFill>
            <a:srgbClr val="DD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模量科技  Modutech   |   触觉阵列时漂补偿 · 长时恒载力值稳定性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9224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444752"/>
            <a:ext cx="3538728" cy="2103120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85800" y="1444752"/>
            <a:ext cx="50292" cy="2103120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41832" y="1609344"/>
            <a:ext cx="3063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A1020"/>
                </a:solidFill>
                <a:latin typeface="Microsoft YaHei"/>
              </a:rPr>
              <a:t>已经达成的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1993392"/>
            <a:ext cx="3063240" cy="1444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20" b="0">
                <a:solidFill>
                  <a:srgbClr val="48587A"/>
                </a:solidFill>
                <a:latin typeface="Microsoft YaHei"/>
              </a:rPr>
              <a:t>两组实录（48 分钟 / 96 分钟）升级后读数保持平稳：首尾变化 +0.02 N 与 -0.64 N，越按越高的幅度压到 0.2 N 以内。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1444752"/>
            <a:ext cx="3538728" cy="2103120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325112" y="1444752"/>
            <a:ext cx="50292" cy="2103120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81144" y="1609344"/>
            <a:ext cx="3063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A1020"/>
                </a:solidFill>
                <a:latin typeface="Microsoft YaHei"/>
              </a:rPr>
              <a:t>已经验证的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1993392"/>
            <a:ext cx="3063240" cy="1444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20" b="0">
                <a:solidFill>
                  <a:srgbClr val="48587A"/>
                </a:solidFill>
                <a:latin typeface="Microsoft YaHei"/>
              </a:rPr>
              <a:t>升级前后的差异只来自基线更新策略一项；其余逻辑、参数与接口均未改变，现场既有数据的回看结论不受影响。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64424" y="1444752"/>
            <a:ext cx="3538728" cy="2103120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7964424" y="1444752"/>
            <a:ext cx="50292" cy="2103120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0456" y="1609344"/>
            <a:ext cx="3063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A1020"/>
                </a:solidFill>
                <a:latin typeface="Microsoft YaHei"/>
              </a:rPr>
              <a:t>接下来要做的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1993392"/>
            <a:ext cx="3063240" cy="1444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20" b="0">
                <a:solidFill>
                  <a:srgbClr val="48587A"/>
                </a:solidFill>
                <a:latin typeface="Microsoft YaHei"/>
              </a:rPr>
              <a:t>补入第三组部位的实测数据；在更多部位与更长按压时长上扩大样本，并配合产线标定流程完成版本切换。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858768"/>
            <a:ext cx="108173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55DFC"/>
                </a:solidFill>
                <a:latin typeface="Microsoft YaHei"/>
              </a:rPr>
              <a:t>结束语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261104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>
                <a:solidFill>
                  <a:srgbClr val="0A1020"/>
                </a:solidFill>
                <a:latin typeface="Microsoft YaHei"/>
              </a:rPr>
              <a:t>时漂补偿的目的不是让读数好看，而是让设备在真实按压时长下输出可被信任的力值。本次升级把长时按压从「越按越高」变成了「按多久都稳」，这是后续标定、判定与产品化的前提。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