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256032" y="4443984"/>
            <a:ext cx="1920240" cy="32004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1170432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8587A"/>
                </a:solidFill>
                <a:latin typeface="Microsoft YaHei"/>
              </a:rPr>
              <a:t>模量科技  Modutech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737360"/>
            <a:ext cx="80467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3800" b="1">
                <a:solidFill>
                  <a:srgbClr val="0A1020"/>
                </a:solidFill>
                <a:latin typeface="Microsoft YaHei"/>
              </a:rPr>
              <a:t>长时持续按压下的</a:t>
            </a:r>
          </a:p>
          <a:p>
            <a:pPr algn="l">
              <a:lnSpc>
                <a:spcPct val="126000"/>
              </a:lnSpc>
            </a:pPr>
            <a:r>
              <a:rPr sz="3800" b="1">
                <a:solidFill>
                  <a:srgbClr val="0A1020"/>
                </a:solidFill>
                <a:latin typeface="Microsoft YaHei"/>
              </a:rPr>
              <a:t>力值稳定性成果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566160"/>
            <a:ext cx="89611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0B2E96"/>
                </a:solidFill>
                <a:latin typeface="Microsoft YaHei"/>
              </a:rPr>
              <a:t>时漂补偿算法升级 · 修复前后力值对比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590288"/>
            <a:ext cx="8595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250" b="0">
                <a:solidFill>
                  <a:srgbClr val="48587A"/>
                </a:solidFill>
                <a:latin typeface="Microsoft YaHei"/>
              </a:rPr>
              <a:t>测试部位：拇指指腹 48 分钟、掌心 96 分钟、四指指腹 74 分钟</a:t>
            </a:r>
          </a:p>
          <a:p>
            <a:pPr algn="l">
              <a:lnSpc>
                <a:spcPct val="162000"/>
              </a:lnSpc>
            </a:pPr>
            <a:r>
              <a:rPr sz="1250" b="0">
                <a:solidFill>
                  <a:srgbClr val="48587A"/>
                </a:solidFill>
                <a:latin typeface="Microsoft YaHei"/>
              </a:rPr>
              <a:t>对照方式：同一份实测数据，比较现场在跑的版本与本轮升级版本</a:t>
            </a:r>
          </a:p>
          <a:p>
            <a:pPr algn="l">
              <a:lnSpc>
                <a:spcPct val="162000"/>
              </a:lnSpc>
            </a:pPr>
            <a:r>
              <a:rPr sz="1250" b="0">
                <a:solidFill>
                  <a:srgbClr val="48587A"/>
                </a:solidFill>
                <a:latin typeface="Microsoft YaHei"/>
              </a:rPr>
              <a:t>评价口径：读数首尾变化、全程起伏、持续按压中的上行漂移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6053328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0B8"/>
                </a:solidFill>
                <a:latin typeface="Microsoft YaHei"/>
              </a:rPr>
              <a:t>汇报单位：模量科技　|　2026-10-19</a:t>
            </a:r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4572000"/>
            <a:ext cx="960120" cy="960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2560" y="566928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48587A"/>
                </a:solidFill>
                <a:latin typeface="Arial"/>
              </a:rPr>
              <a:t>MODUTECH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9728"/>
            <a:ext cx="3886200" cy="32004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A1020"/>
                </a:solidFill>
                <a:latin typeface="Microsoft YaHei"/>
              </a:rPr>
              <a:t>一页结论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9601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8587A"/>
                </a:solidFill>
                <a:latin typeface="Microsoft YaHei"/>
              </a:rPr>
              <a:t>同一份实测数据，升级前后长时按压力值的稳定性差距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347472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40233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8587A"/>
                </a:solidFill>
                <a:latin typeface="Microsoft YaHei"/>
              </a:rPr>
              <a:t>模量科技  Modutech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19088"/>
            <a:ext cx="10817352" cy="10972"/>
          </a:xfrm>
          <a:prstGeom prst="rect">
            <a:avLst/>
          </a:prstGeom>
          <a:solidFill>
            <a:srgbClr val="DD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64922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模量科技  Modutech   |   触觉阵列时漂补偿 · 长时恒载力值稳定性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9224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426464"/>
            <a:ext cx="3538728" cy="1645920"/>
          </a:xfrm>
          <a:prstGeom prst="rect">
            <a:avLst/>
          </a:prstGeom>
          <a:solidFill>
            <a:srgbClr val="F7F9FE"/>
          </a:solidFill>
          <a:ln w="9525">
            <a:solidFill>
              <a:srgbClr val="DD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85800" y="1426464"/>
            <a:ext cx="50292" cy="1645920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41832" y="1591056"/>
            <a:ext cx="30815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3A0B8"/>
                </a:solidFill>
                <a:latin typeface="Microsoft YaHei"/>
              </a:rPr>
              <a:t>拇指指腹 · 48 分钟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1847088"/>
            <a:ext cx="308152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55DFC"/>
                </a:solidFill>
                <a:latin typeface="Microsoft YaHei"/>
              </a:rPr>
              <a:t>+3.47 → +0.20 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2359152"/>
            <a:ext cx="308152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8587A"/>
                </a:solidFill>
                <a:latin typeface="Microsoft YaHei"/>
              </a:rPr>
              <a:t>读数首尾变化：升级前 +3.47 N，升级后 +0.20 N，降幅 94%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5112" y="1426464"/>
            <a:ext cx="3538728" cy="1645920"/>
          </a:xfrm>
          <a:prstGeom prst="rect">
            <a:avLst/>
          </a:prstGeom>
          <a:solidFill>
            <a:srgbClr val="F7F9FE"/>
          </a:solidFill>
          <a:ln w="9525">
            <a:solidFill>
              <a:srgbClr val="DD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325112" y="1426464"/>
            <a:ext cx="50292" cy="1645920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81144" y="1591056"/>
            <a:ext cx="30815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3A0B8"/>
                </a:solidFill>
                <a:latin typeface="Microsoft YaHei"/>
              </a:rPr>
              <a:t>掌心 · 96 分钟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1144" y="1847088"/>
            <a:ext cx="308152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B2E96"/>
                </a:solidFill>
                <a:latin typeface="Microsoft YaHei"/>
              </a:rPr>
              <a:t>+1.34 → -0.06 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2359152"/>
            <a:ext cx="308152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8587A"/>
                </a:solidFill>
                <a:latin typeface="Microsoft YaHei"/>
              </a:rPr>
              <a:t>读数首尾变化：升级前 +1.34 N，升级后 -0.06 N，降幅 96%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64424" y="1426464"/>
            <a:ext cx="3538728" cy="1645920"/>
          </a:xfrm>
          <a:prstGeom prst="rect">
            <a:avLst/>
          </a:prstGeom>
          <a:solidFill>
            <a:srgbClr val="F7F9FE"/>
          </a:solidFill>
          <a:ln w="9525">
            <a:solidFill>
              <a:srgbClr val="DD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7964424" y="1426464"/>
            <a:ext cx="50292" cy="164592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220456" y="1591056"/>
            <a:ext cx="30815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3A0B8"/>
                </a:solidFill>
                <a:latin typeface="Microsoft YaHei"/>
              </a:rPr>
              <a:t>四指指腹 · 74 分钟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0456" y="1847088"/>
            <a:ext cx="308152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5B8DEF"/>
                </a:solidFill>
                <a:latin typeface="Microsoft YaHei"/>
              </a:rPr>
              <a:t>+1.70 → -0.26 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0456" y="2359152"/>
            <a:ext cx="308152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8587A"/>
                </a:solidFill>
                <a:latin typeface="Microsoft YaHei"/>
              </a:rPr>
              <a:t>读数首尾变化：升级前 +1.70 N，升级后 -0.26 N，降幅 85%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3218688"/>
            <a:ext cx="45720" cy="56692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3227832"/>
            <a:ext cx="10561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150" b="0">
                <a:solidFill>
                  <a:srgbClr val="48587A"/>
                </a:solidFill>
                <a:latin typeface="Microsoft YaHei"/>
              </a:rPr>
              <a:t>升级前，补偿在长时按压中逐级失效，显示力值被顶起来；升级后基线只在确认空载时才更新，受载期间保持冻结，补偿整段有效，读数稳住不再上爬。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85800" y="4023360"/>
          <a:ext cx="10817352" cy="15361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20240"/>
                <a:gridCol w="1600200"/>
                <a:gridCol w="1920240"/>
                <a:gridCol w="1920240"/>
                <a:gridCol w="1728216"/>
                <a:gridCol w="1728216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测试部位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持续按压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升级前首尾变化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升级后首尾变化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升级前上行漂移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升级后上行漂移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拇指指腹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48 分钟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+3.47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+0.20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3.64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0.34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掌心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96 分钟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+1.34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-0.06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1.47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0.15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四指指腹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74 分钟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+1.70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-0.26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1.80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A1020"/>
                          </a:solidFill>
                          <a:latin typeface="Microsoft YaHei"/>
                        </a:rPr>
                        <a:t>0.14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685800" y="5961888"/>
            <a:ext cx="108173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3A0B8"/>
                </a:solidFill>
                <a:latin typeface="Microsoft YaHei"/>
              </a:rPr>
              <a:t>显示力值单位 N，按现场标定系数折算；上行漂移指持续按压期间读数相对起始值自己往上爬的最大幅度。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9728"/>
            <a:ext cx="3886200" cy="32004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A1020"/>
                </a:solidFill>
                <a:latin typeface="Microsoft YaHei"/>
              </a:rPr>
              <a:t>对照口径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9601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8587A"/>
                </a:solidFill>
                <a:latin typeface="Microsoft YaHei"/>
              </a:rPr>
              <a:t>为什么这组对比可以直接采信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347472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40233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8587A"/>
                </a:solidFill>
                <a:latin typeface="Microsoft YaHei"/>
              </a:rPr>
              <a:t>模量科技  Modutech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19088"/>
            <a:ext cx="10817352" cy="10972"/>
          </a:xfrm>
          <a:prstGeom prst="rect">
            <a:avLst/>
          </a:prstGeom>
          <a:solidFill>
            <a:srgbClr val="DD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64922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模量科技  Modutech   |   触觉阵列时漂补偿 · 长时恒载力值稳定性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9224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444752"/>
            <a:ext cx="3538728" cy="2048256"/>
          </a:xfrm>
          <a:prstGeom prst="rect">
            <a:avLst/>
          </a:prstGeom>
          <a:solidFill>
            <a:srgbClr val="F7F9FE"/>
          </a:solidFill>
          <a:ln w="9525">
            <a:solidFill>
              <a:srgbClr val="DD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85800" y="1444752"/>
            <a:ext cx="50292" cy="2048256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41832" y="1609344"/>
            <a:ext cx="3063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A1020"/>
                </a:solidFill>
                <a:latin typeface="Microsoft YaHei"/>
              </a:rPr>
              <a:t>同一份实测数据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1993392"/>
            <a:ext cx="3063240" cy="1389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20" b="0">
                <a:solidFill>
                  <a:srgbClr val="48587A"/>
                </a:solidFill>
                <a:latin typeface="Microsoft YaHei"/>
              </a:rPr>
              <a:t>每一组都是设备真实录制，升级前后跑的是完全相同的输入，不存在「换了数据所以更好看」。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5112" y="1444752"/>
            <a:ext cx="3538728" cy="2048256"/>
          </a:xfrm>
          <a:prstGeom prst="rect">
            <a:avLst/>
          </a:prstGeom>
          <a:solidFill>
            <a:srgbClr val="F7F9FE"/>
          </a:solidFill>
          <a:ln w="9525">
            <a:solidFill>
              <a:srgbClr val="DD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325112" y="1444752"/>
            <a:ext cx="50292" cy="2048256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81144" y="1609344"/>
            <a:ext cx="3063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A1020"/>
                </a:solidFill>
                <a:latin typeface="Microsoft YaHei"/>
              </a:rPr>
              <a:t>两处可追溯的改动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1993392"/>
            <a:ext cx="3063240" cy="1389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20" b="0">
                <a:solidFill>
                  <a:srgbClr val="48587A"/>
                </a:solidFill>
                <a:latin typeface="Microsoft YaHei"/>
              </a:rPr>
              <a:t>升级前后只有两处不同：长期漂移的基线更新策略，以及慢变补偿量的上限取值；其余参数、接口与数据通路完全一致。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64424" y="1444752"/>
            <a:ext cx="3538728" cy="2048256"/>
          </a:xfrm>
          <a:prstGeom prst="rect">
            <a:avLst/>
          </a:prstGeom>
          <a:solidFill>
            <a:srgbClr val="F7F9FE"/>
          </a:solidFill>
          <a:ln w="9525">
            <a:solidFill>
              <a:srgbClr val="DD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7964424" y="1444752"/>
            <a:ext cx="50292" cy="2048256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0456" y="1609344"/>
            <a:ext cx="3063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A1020"/>
                </a:solidFill>
                <a:latin typeface="Microsoft YaHei"/>
              </a:rPr>
              <a:t>三项可复核指标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0456" y="1993392"/>
            <a:ext cx="3063240" cy="1389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20" b="0">
                <a:solidFill>
                  <a:srgbClr val="48587A"/>
                </a:solidFill>
                <a:latin typeface="Microsoft YaHei"/>
              </a:rPr>
              <a:t>首尾变化（稳不稳）、全程起伏（飘不飘）、上行漂移（会不会越按越高），全部由原始录制直接计算。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712463"/>
            <a:ext cx="10817352" cy="786384"/>
          </a:xfrm>
          <a:prstGeom prst="rect">
            <a:avLst/>
          </a:prstGeom>
          <a:solidFill>
            <a:srgbClr val="EC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32688" y="384048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150" b="0">
                <a:solidFill>
                  <a:srgbClr val="0B2E96"/>
                </a:solidFill>
                <a:latin typeface="Microsoft YaHei"/>
              </a:rPr>
              <a:t>传感器原始信号本身变化很小（拇指指腹 +0.39 N；掌心 +0.73 N；四指指腹 +0.40 N）。升级前的上飘主要来自补偿链路本身，不是传感器读数异常。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85800" y="4718304"/>
          <a:ext cx="10817352" cy="13898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21992"/>
                <a:gridCol w="1920240"/>
                <a:gridCol w="2286000"/>
                <a:gridCol w="2194560"/>
                <a:gridCol w="219456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持续按压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原始信号变化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升级前读数变化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升级后读数变化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拇指指腹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48 分钟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+0.39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+3.47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+0.20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掌心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96 分钟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+0.73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+1.34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-0.06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四指指腹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74 分钟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+0.40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+1.70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-0.26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9728"/>
            <a:ext cx="3886200" cy="32004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A1020"/>
                </a:solidFill>
                <a:latin typeface="Microsoft YaHei"/>
              </a:rPr>
              <a:t>拇指指腹 · 修复前后力值曲线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9601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8587A"/>
                </a:solidFill>
                <a:latin typeface="Microsoft YaHei"/>
              </a:rPr>
              <a:t>48 分钟持续按压，显示力值的全程走势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347472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40233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8587A"/>
                </a:solidFill>
                <a:latin typeface="Microsoft YaHei"/>
              </a:rPr>
              <a:t>模量科技  Modutech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19088"/>
            <a:ext cx="10817352" cy="10972"/>
          </a:xfrm>
          <a:prstGeom prst="rect">
            <a:avLst/>
          </a:prstGeom>
          <a:solidFill>
            <a:srgbClr val="DD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64922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模量科技  Modutech   |   触觉阵列时漂补偿 · 长时恒载力值稳定性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9224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04</a:t>
            </a:r>
          </a:p>
        </p:txBody>
      </p:sp>
      <p:pic>
        <p:nvPicPr>
          <p:cNvPr id="11" name="Picture 10" descr="A1_thumb_a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35024"/>
            <a:ext cx="10817352" cy="4125261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85800" y="5705856"/>
            <a:ext cx="45720" cy="548640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715000"/>
            <a:ext cx="10561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150" b="0">
                <a:solidFill>
                  <a:srgbClr val="48587A"/>
                </a:solidFill>
                <a:latin typeface="Microsoft YaHei"/>
              </a:rPr>
              <a:t>升级前（灰）：读数从 28.26 N 抬到 31.73 N；升级后（蓝）：整段保持在 28.44 N 附近，首尾变化 +0.20 N。灰虚线为传感器原始信号，自身仅变化 +0.39 N。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9728"/>
            <a:ext cx="3886200" cy="32004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A1020"/>
                </a:solidFill>
                <a:latin typeface="Microsoft YaHei"/>
              </a:rPr>
              <a:t>拇指指腹 · 力值漂移对比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9601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8587A"/>
                </a:solidFill>
                <a:latin typeface="Microsoft YaHei"/>
              </a:rPr>
              <a:t>把起始读数拉平后，升级前后的漂移轨迹差异一目了然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347472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40233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8587A"/>
                </a:solidFill>
                <a:latin typeface="Microsoft YaHei"/>
              </a:rPr>
              <a:t>模量科技  Modutech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19088"/>
            <a:ext cx="10817352" cy="10972"/>
          </a:xfrm>
          <a:prstGeom prst="rect">
            <a:avLst/>
          </a:prstGeom>
          <a:solidFill>
            <a:srgbClr val="DD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64922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模量科技  Modutech   |   触觉阵列时漂补偿 · 长时恒载力值稳定性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9224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05</a:t>
            </a:r>
          </a:p>
        </p:txBody>
      </p:sp>
      <p:pic>
        <p:nvPicPr>
          <p:cNvPr id="11" name="Picture 10" descr="A2_thumb_dri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35024"/>
            <a:ext cx="10817352" cy="4125261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85800" y="5705856"/>
            <a:ext cx="45720" cy="548640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715000"/>
            <a:ext cx="10561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150" b="0">
                <a:solidFill>
                  <a:srgbClr val="48587A"/>
                </a:solidFill>
                <a:latin typeface="Microsoft YaHei"/>
              </a:rPr>
              <a:t>升级前漂移持续单向累积，全程起伏 3.76 N；升级后漂移贴住零线，全程起伏 0.51 N，上行漂移由 3.64 N 降到 0.34 N。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9728"/>
            <a:ext cx="3886200" cy="32004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A1020"/>
                </a:solidFill>
                <a:latin typeface="Microsoft YaHei"/>
              </a:rPr>
              <a:t>掌心 · 修复前后力值曲线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9601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8587A"/>
                </a:solidFill>
                <a:latin typeface="Microsoft YaHei"/>
              </a:rPr>
              <a:t>96 分钟持续按压，显示力值的全程走势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347472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40233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8587A"/>
                </a:solidFill>
                <a:latin typeface="Microsoft YaHei"/>
              </a:rPr>
              <a:t>模量科技  Modutech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19088"/>
            <a:ext cx="10817352" cy="10972"/>
          </a:xfrm>
          <a:prstGeom prst="rect">
            <a:avLst/>
          </a:prstGeom>
          <a:solidFill>
            <a:srgbClr val="DD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64922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模量科技  Modutech   |   触觉阵列时漂补偿 · 长时恒载力值稳定性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9224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06</a:t>
            </a:r>
          </a:p>
        </p:txBody>
      </p:sp>
      <p:pic>
        <p:nvPicPr>
          <p:cNvPr id="11" name="Picture 10" descr="A3_palm_a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35024"/>
            <a:ext cx="10817352" cy="4125261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85800" y="5705856"/>
            <a:ext cx="45720" cy="548640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715000"/>
            <a:ext cx="10561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150" b="0">
                <a:solidFill>
                  <a:srgbClr val="48587A"/>
                </a:solidFill>
                <a:latin typeface="Microsoft YaHei"/>
              </a:rPr>
              <a:t>升级前（灰）：读数从 31.26 N 抬到 32.60 N；升级后（蓝）：整段保持在 28.62 N 附近，首尾变化 -0.06 N。灰虚线为传感器原始信号，自身仅变化 +0.73 N。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9728"/>
            <a:ext cx="3886200" cy="32004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A1020"/>
                </a:solidFill>
                <a:latin typeface="Microsoft YaHei"/>
              </a:rPr>
              <a:t>掌心 · 力值漂移对比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9601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8587A"/>
                </a:solidFill>
                <a:latin typeface="Microsoft YaHei"/>
              </a:rPr>
              <a:t>把起始读数拉平后，升级前后的漂移轨迹差异一目了然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347472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40233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8587A"/>
                </a:solidFill>
                <a:latin typeface="Microsoft YaHei"/>
              </a:rPr>
              <a:t>模量科技  Modutech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19088"/>
            <a:ext cx="10817352" cy="10972"/>
          </a:xfrm>
          <a:prstGeom prst="rect">
            <a:avLst/>
          </a:prstGeom>
          <a:solidFill>
            <a:srgbClr val="DD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64922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模量科技  Modutech   |   触觉阵列时漂补偿 · 长时恒载力值稳定性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9224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07</a:t>
            </a:r>
          </a:p>
        </p:txBody>
      </p:sp>
      <p:pic>
        <p:nvPicPr>
          <p:cNvPr id="11" name="Picture 10" descr="A4_palm_dri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35024"/>
            <a:ext cx="10817352" cy="4125261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85800" y="5705856"/>
            <a:ext cx="45720" cy="548640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715000"/>
            <a:ext cx="10561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150" b="0">
                <a:solidFill>
                  <a:srgbClr val="48587A"/>
                </a:solidFill>
                <a:latin typeface="Microsoft YaHei"/>
              </a:rPr>
              <a:t>升级前漂移持续单向累积，全程起伏 1.61 N；升级后漂移贴住零线，全程起伏 0.44 N，上行漂移由 1.47 N 降到 0.15 N。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9728"/>
            <a:ext cx="3886200" cy="32004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A1020"/>
                </a:solidFill>
                <a:latin typeface="Microsoft YaHei"/>
              </a:rPr>
              <a:t>四指指腹 · 修复前后力值曲线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9601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8587A"/>
                </a:solidFill>
                <a:latin typeface="Microsoft YaHei"/>
              </a:rPr>
              <a:t>74 分钟持续按压，显示力值的全程走势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347472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40233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8587A"/>
                </a:solidFill>
                <a:latin typeface="Microsoft YaHei"/>
              </a:rPr>
              <a:t>模量科技  Modutech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19088"/>
            <a:ext cx="10817352" cy="10972"/>
          </a:xfrm>
          <a:prstGeom prst="rect">
            <a:avLst/>
          </a:prstGeom>
          <a:solidFill>
            <a:srgbClr val="DD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64922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模量科技  Modutech   |   触觉阵列时漂补偿 · 长时恒载力值稳定性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9224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08</a:t>
            </a:r>
          </a:p>
        </p:txBody>
      </p:sp>
      <p:pic>
        <p:nvPicPr>
          <p:cNvPr id="11" name="Picture 10" descr="A5_third_a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35024"/>
            <a:ext cx="10817352" cy="4125261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85800" y="5705856"/>
            <a:ext cx="45720" cy="548640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715000"/>
            <a:ext cx="10561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150" b="0">
                <a:solidFill>
                  <a:srgbClr val="48587A"/>
                </a:solidFill>
                <a:latin typeface="Microsoft YaHei"/>
              </a:rPr>
              <a:t>升级前（灰）：读数从 31.27 N 抬到 32.97 N；升级后（蓝）：整段保持在 30.62 N 附近，首尾变化 -0.26 N。灰虚线为传感器原始信号，自身仅变化 +0.40 N。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9728"/>
            <a:ext cx="3886200" cy="32004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A1020"/>
                </a:solidFill>
                <a:latin typeface="Microsoft YaHei"/>
              </a:rPr>
              <a:t>四指指腹 · 力值漂移对比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9601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8587A"/>
                </a:solidFill>
                <a:latin typeface="Microsoft YaHei"/>
              </a:rPr>
              <a:t>把起始读数拉平后，升级前后的漂移轨迹差异一目了然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347472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40233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8587A"/>
                </a:solidFill>
                <a:latin typeface="Microsoft YaHei"/>
              </a:rPr>
              <a:t>模量科技  Modutech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19088"/>
            <a:ext cx="10817352" cy="10972"/>
          </a:xfrm>
          <a:prstGeom prst="rect">
            <a:avLst/>
          </a:prstGeom>
          <a:solidFill>
            <a:srgbClr val="DD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64922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模量科技  Modutech   |   触觉阵列时漂补偿 · 长时恒载力值稳定性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9224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09</a:t>
            </a:r>
          </a:p>
        </p:txBody>
      </p:sp>
      <p:pic>
        <p:nvPicPr>
          <p:cNvPr id="11" name="Picture 10" descr="A6_third_dri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35024"/>
            <a:ext cx="10817352" cy="4125261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85800" y="5705856"/>
            <a:ext cx="45720" cy="548640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715000"/>
            <a:ext cx="10561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150" b="0">
                <a:solidFill>
                  <a:srgbClr val="48587A"/>
                </a:solidFill>
                <a:latin typeface="Microsoft YaHei"/>
              </a:rPr>
              <a:t>升级前漂移持续单向累积，全程起伏 1.93 N；升级后漂移贴住零线，全程起伏 0.58 N，上行漂移由 1.80 N 降到 0.14 N。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9728"/>
            <a:ext cx="3886200" cy="32004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A1020"/>
                </a:solidFill>
                <a:latin typeface="Microsoft YaHei"/>
              </a:rPr>
              <a:t>汇总对比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9601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8587A"/>
                </a:solidFill>
                <a:latin typeface="Microsoft YaHei"/>
              </a:rPr>
              <a:t>三组实测数据的力值稳定性对照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347472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40233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8587A"/>
                </a:solidFill>
                <a:latin typeface="Microsoft YaHei"/>
              </a:rPr>
              <a:t>模量科技  Modutech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19088"/>
            <a:ext cx="10817352" cy="10972"/>
          </a:xfrm>
          <a:prstGeom prst="rect">
            <a:avLst/>
          </a:prstGeom>
          <a:solidFill>
            <a:srgbClr val="DD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64922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模量科技  Modutech   |   触觉阵列时漂补偿 · 长时恒载力值稳定性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9224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10</a:t>
            </a:r>
          </a:p>
        </p:txBody>
      </p:sp>
      <p:pic>
        <p:nvPicPr>
          <p:cNvPr id="11" name="Picture 10" descr="A7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25296"/>
            <a:ext cx="10058400" cy="3233057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85800" y="4718304"/>
          <a:ext cx="10817352" cy="13898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81912"/>
                <a:gridCol w="1280160"/>
                <a:gridCol w="1554480"/>
                <a:gridCol w="1554480"/>
                <a:gridCol w="1371600"/>
                <a:gridCol w="1371600"/>
                <a:gridCol w="210312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测试部位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持续按压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升级前首尾变化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升级后首尾变化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升级前起伏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升级后起伏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上行漂移（前 → 后）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拇指指腹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48 分钟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+3.47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+0.20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3.76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0.51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3.64 → 0.34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掌心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96 分钟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+1.34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-0.06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1.61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0.44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1.47 → 0.15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四指指腹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74 分钟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+1.70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-0.26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1.93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0.58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1020"/>
                          </a:solidFill>
                          <a:latin typeface="Microsoft YaHei"/>
                        </a:rPr>
                        <a:t>1.80 → 0.14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85800" y="6089904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3A0B8"/>
                </a:solidFill>
                <a:latin typeface="Microsoft YaHei"/>
              </a:rPr>
              <a:t>起伏 = 评价段内读数的最大值与最小值之差；上行漂移 = 读数相对起始值向上累积的最大幅度。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9728"/>
            <a:ext cx="3886200" cy="32004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A1020"/>
                </a:solidFill>
                <a:latin typeface="Microsoft YaHei"/>
              </a:rPr>
              <a:t>稳定性：越按越高的趋势消失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9601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8587A"/>
                </a:solidFill>
                <a:latin typeface="Microsoft YaHei"/>
              </a:rPr>
              <a:t>长时按压最要紧的不是漂多少，而是会不会自己往上走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347472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40233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8587A"/>
                </a:solidFill>
                <a:latin typeface="Microsoft YaHei"/>
              </a:rPr>
              <a:t>模量科技  Modutech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19088"/>
            <a:ext cx="10817352" cy="10972"/>
          </a:xfrm>
          <a:prstGeom prst="rect">
            <a:avLst/>
          </a:prstGeom>
          <a:solidFill>
            <a:srgbClr val="DD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64922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模量科技  Modutech   |   触觉阵列时漂补偿 · 长时恒载力值稳定性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9224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426464"/>
            <a:ext cx="3538728" cy="1572768"/>
          </a:xfrm>
          <a:prstGeom prst="rect">
            <a:avLst/>
          </a:prstGeom>
          <a:solidFill>
            <a:srgbClr val="F7F9FE"/>
          </a:solidFill>
          <a:ln w="9525">
            <a:solidFill>
              <a:srgbClr val="DD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85800" y="1426464"/>
            <a:ext cx="50292" cy="157276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41832" y="1591056"/>
            <a:ext cx="30815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3A0B8"/>
                </a:solidFill>
                <a:latin typeface="Microsoft YaHei"/>
              </a:rPr>
              <a:t>拇指指腹 · 上行漂移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1847088"/>
            <a:ext cx="308152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55DFC"/>
                </a:solidFill>
                <a:latin typeface="Microsoft YaHei"/>
              </a:rPr>
              <a:t>3.64 → 0.34 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2359152"/>
            <a:ext cx="3081528" cy="548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8587A"/>
                </a:solidFill>
                <a:latin typeface="Microsoft YaHei"/>
              </a:rPr>
              <a:t>读数自己往上爬的幅度下降 91%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5112" y="1426464"/>
            <a:ext cx="3538728" cy="1572768"/>
          </a:xfrm>
          <a:prstGeom prst="rect">
            <a:avLst/>
          </a:prstGeom>
          <a:solidFill>
            <a:srgbClr val="F7F9FE"/>
          </a:solidFill>
          <a:ln w="9525">
            <a:solidFill>
              <a:srgbClr val="DD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325112" y="1426464"/>
            <a:ext cx="50292" cy="1572768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81144" y="1591056"/>
            <a:ext cx="30815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3A0B8"/>
                </a:solidFill>
                <a:latin typeface="Microsoft YaHei"/>
              </a:rPr>
              <a:t>掌心 · 上行漂移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1144" y="1847088"/>
            <a:ext cx="308152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B2E96"/>
                </a:solidFill>
                <a:latin typeface="Microsoft YaHei"/>
              </a:rPr>
              <a:t>1.47 → 0.15 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2359152"/>
            <a:ext cx="3081528" cy="548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8587A"/>
                </a:solidFill>
                <a:latin typeface="Microsoft YaHei"/>
              </a:rPr>
              <a:t>读数自己往上爬的幅度下降 90%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64424" y="1426464"/>
            <a:ext cx="3538728" cy="1572768"/>
          </a:xfrm>
          <a:prstGeom prst="rect">
            <a:avLst/>
          </a:prstGeom>
          <a:solidFill>
            <a:srgbClr val="F7F9FE"/>
          </a:solidFill>
          <a:ln w="9525">
            <a:solidFill>
              <a:srgbClr val="DD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7964424" y="1426464"/>
            <a:ext cx="50292" cy="1572768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220456" y="1591056"/>
            <a:ext cx="30815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3A0B8"/>
                </a:solidFill>
                <a:latin typeface="Microsoft YaHei"/>
              </a:rPr>
              <a:t>四指指腹 · 上行漂移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0456" y="1847088"/>
            <a:ext cx="308152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5B8DEF"/>
                </a:solidFill>
                <a:latin typeface="Microsoft YaHei"/>
              </a:rPr>
              <a:t>1.80 → 0.14 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0456" y="2359152"/>
            <a:ext cx="3081528" cy="548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8587A"/>
                </a:solidFill>
                <a:latin typeface="Microsoft YaHei"/>
              </a:rPr>
              <a:t>读数自己往上爬的幅度下降 92%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85800" y="3273552"/>
          <a:ext cx="10817352" cy="1463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64792"/>
                <a:gridCol w="1508760"/>
                <a:gridCol w="1508760"/>
                <a:gridCol w="1508760"/>
                <a:gridCol w="1508760"/>
                <a:gridCol w="1508760"/>
                <a:gridCol w="150876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拇指指腹 升级前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掌心 升级前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四指指腹 升级前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拇指指腹 升级后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掌心 升级后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四指指腹 升级后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1020"/>
                          </a:solidFill>
                          <a:latin typeface="Microsoft YaHei"/>
                        </a:rPr>
                        <a:t>上行漂移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1020"/>
                          </a:solidFill>
                          <a:latin typeface="Microsoft YaHei"/>
                        </a:rPr>
                        <a:t>3.64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1020"/>
                          </a:solidFill>
                          <a:latin typeface="Microsoft YaHei"/>
                        </a:rPr>
                        <a:t>1.47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1020"/>
                          </a:solidFill>
                          <a:latin typeface="Microsoft YaHei"/>
                        </a:rPr>
                        <a:t>1.80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1020"/>
                          </a:solidFill>
                          <a:latin typeface="Microsoft YaHei"/>
                        </a:rPr>
                        <a:t>0.34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1020"/>
                          </a:solidFill>
                          <a:latin typeface="Microsoft YaHei"/>
                        </a:rPr>
                        <a:t>0.15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1020"/>
                          </a:solidFill>
                          <a:latin typeface="Microsoft YaHei"/>
                        </a:rPr>
                        <a:t>0.14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1020"/>
                          </a:solidFill>
                          <a:latin typeface="Microsoft YaHei"/>
                        </a:rPr>
                        <a:t>末段趋势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1020"/>
                          </a:solidFill>
                          <a:latin typeface="Microsoft YaHei"/>
                        </a:rPr>
                        <a:t>+0.005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1020"/>
                          </a:solidFill>
                          <a:latin typeface="Microsoft YaHei"/>
                        </a:rPr>
                        <a:t>+0.008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1020"/>
                          </a:solidFill>
                          <a:latin typeface="Microsoft YaHei"/>
                        </a:rPr>
                        <a:t>+0.002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1020"/>
                          </a:solidFill>
                          <a:latin typeface="Microsoft YaHei"/>
                        </a:rPr>
                        <a:t>-0.001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1020"/>
                          </a:solidFill>
                          <a:latin typeface="Microsoft YaHei"/>
                        </a:rPr>
                        <a:t>+0.003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1020"/>
                          </a:solidFill>
                          <a:latin typeface="Microsoft YaHei"/>
                        </a:rPr>
                        <a:t>-0.001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A1020"/>
                          </a:solidFill>
                          <a:latin typeface="Microsoft YaHei"/>
                        </a:rPr>
                        <a:t>稳定性维持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1020"/>
                          </a:solidFill>
                          <a:latin typeface="Microsoft YaHei"/>
                        </a:rPr>
                        <a:t>17%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1020"/>
                          </a:solidFill>
                          <a:latin typeface="Microsoft YaHei"/>
                        </a:rPr>
                        <a:t>1%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1020"/>
                          </a:solidFill>
                          <a:latin typeface="Microsoft YaHei"/>
                        </a:rPr>
                        <a:t>0%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1020"/>
                          </a:solidFill>
                          <a:latin typeface="Microsoft YaHei"/>
                        </a:rPr>
                        <a:t>106%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1020"/>
                          </a:solidFill>
                          <a:latin typeface="Microsoft YaHei"/>
                        </a:rPr>
                        <a:t>124%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1020"/>
                          </a:solidFill>
                          <a:latin typeface="Microsoft YaHei"/>
                        </a:rPr>
                        <a:t>134%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685800" y="5413248"/>
            <a:ext cx="45720" cy="56692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32688" y="5422392"/>
            <a:ext cx="10561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150" b="0">
                <a:solidFill>
                  <a:srgbClr val="48587A"/>
                </a:solidFill>
                <a:latin typeface="Microsoft YaHei"/>
              </a:rPr>
              <a:t>末段趋势单位为 N/分钟，接近零或为负意味着按得再久读数也不会自己往上爬；稳定性维持 = 末段补偿量 / 首段补偿量，接近或超过 100% 说明补偿整段仍在工作。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9728"/>
            <a:ext cx="3886200" cy="32004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A1020"/>
                </a:solidFill>
                <a:latin typeface="Microsoft YaHei"/>
              </a:rPr>
              <a:t>数据一览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9601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8587A"/>
                </a:solidFill>
                <a:latin typeface="Microsoft YaHei"/>
              </a:rPr>
              <a:t>三组实录的完整指标（同一口径、同一算法版本）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347472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40233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8587A"/>
                </a:solidFill>
                <a:latin typeface="Microsoft YaHei"/>
              </a:rPr>
              <a:t>模量科技  Modutech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19088"/>
            <a:ext cx="10817352" cy="10972"/>
          </a:xfrm>
          <a:prstGeom prst="rect">
            <a:avLst/>
          </a:prstGeom>
          <a:solidFill>
            <a:srgbClr val="DD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64922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模量科技  Modutech   |   触觉阵列时漂补偿 · 长时恒载力值稳定性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9224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12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1572768"/>
          <a:ext cx="10908792" cy="17556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7360"/>
                <a:gridCol w="1417320"/>
                <a:gridCol w="1645920"/>
                <a:gridCol w="1645920"/>
                <a:gridCol w="1645920"/>
                <a:gridCol w="1371600"/>
                <a:gridCol w="1444752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测试部位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持续按压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原始信号变化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升级前首尾变化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升级后首尾变化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升级后起伏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升级后上行漂移</a:t>
                      </a:r>
                    </a:p>
                  </a:txBody>
                  <a:tcPr marL="100584" marR="82296" marT="18288" marB="18288" anchor="ctr">
                    <a:solidFill>
                      <a:srgbClr val="0B2E9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拇指指腹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48 分钟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+0.39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+3.47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+0.20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0.51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0.34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掌心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96 分钟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+0.73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+1.34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-0.06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0.44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0.15 N</a:t>
                      </a:r>
                    </a:p>
                  </a:txBody>
                  <a:tcPr marL="100584" marR="82296" marT="18288" marB="18288" anchor="ctr">
                    <a:solidFill>
                      <a:srgbClr val="F7F9F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四指指腹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74 分钟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+0.40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+1.70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-0.26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0.58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1020"/>
                          </a:solidFill>
                          <a:latin typeface="Microsoft YaHei"/>
                        </a:rPr>
                        <a:t>0.14 N</a:t>
                      </a:r>
                    </a:p>
                  </a:txBody>
                  <a:tcPr marL="100584" marR="8229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85800" y="3913632"/>
            <a:ext cx="10817352" cy="932688"/>
          </a:xfrm>
          <a:prstGeom prst="rect">
            <a:avLst/>
          </a:prstGeom>
          <a:solidFill>
            <a:srgbClr val="F7F9FE"/>
          </a:solidFill>
          <a:ln w="9525">
            <a:solidFill>
              <a:srgbClr val="DD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85800" y="3913632"/>
            <a:ext cx="50292" cy="93268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59936"/>
            <a:ext cx="1028700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48587A"/>
                </a:solidFill>
                <a:latin typeface="Microsoft YaHei"/>
              </a:rPr>
              <a:t>三组的升级后首尾变化均在 0.26 N 以内，越按越高的幅度均在 0.35 N 以内。后续新增部位按同一口径接入，指标定义与页面结构不变。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5084064"/>
            <a:ext cx="45720" cy="512064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5093207"/>
            <a:ext cx="1056132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150" b="0">
                <a:solidFill>
                  <a:srgbClr val="48587A"/>
                </a:solidFill>
                <a:latin typeface="Microsoft YaHei"/>
              </a:rPr>
              <a:t>三组数据均为设备真实录制，未做任何平滑或截断后再计算；曲线图只做了显示用的秒级聚合。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9728"/>
            <a:ext cx="3886200" cy="32004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A1020"/>
                </a:solidFill>
                <a:latin typeface="Microsoft YaHei"/>
              </a:rPr>
              <a:t>结论与下一步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9601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8587A"/>
                </a:solidFill>
                <a:latin typeface="Microsoft YaHei"/>
              </a:rPr>
              <a:t>长时按压力值的稳定性已经具备可用性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347472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40233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8587A"/>
                </a:solidFill>
                <a:latin typeface="Microsoft YaHei"/>
              </a:rPr>
              <a:t>模量科技  Modutech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19088"/>
            <a:ext cx="10817352" cy="10972"/>
          </a:xfrm>
          <a:prstGeom prst="rect">
            <a:avLst/>
          </a:prstGeom>
          <a:solidFill>
            <a:srgbClr val="DD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64922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模量科技  Modutech   |   触觉阵列时漂补偿 · 长时恒载力值稳定性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9224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93A0B8"/>
                </a:solidFill>
                <a:latin typeface="Microsoft YaHei"/>
              </a:rPr>
              <a:t>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444752"/>
            <a:ext cx="3538728" cy="2103120"/>
          </a:xfrm>
          <a:prstGeom prst="rect">
            <a:avLst/>
          </a:prstGeom>
          <a:solidFill>
            <a:srgbClr val="F7F9FE"/>
          </a:solidFill>
          <a:ln w="9525">
            <a:solidFill>
              <a:srgbClr val="DD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85800" y="1444752"/>
            <a:ext cx="50292" cy="2103120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41832" y="1609344"/>
            <a:ext cx="3063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A1020"/>
                </a:solidFill>
                <a:latin typeface="Microsoft YaHei"/>
              </a:rPr>
              <a:t>已经达成的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1993392"/>
            <a:ext cx="3063240" cy="1444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20" b="0">
                <a:solidFill>
                  <a:srgbClr val="48587A"/>
                </a:solidFill>
                <a:latin typeface="Microsoft YaHei"/>
              </a:rPr>
              <a:t>三组实录（48 / 96 / 74 分钟）升级后首尾变化分别 +0.20 / -0.06 / -0.26 N，越按越高的幅度压到 0.35 N 以内。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5112" y="1444752"/>
            <a:ext cx="3538728" cy="2103120"/>
          </a:xfrm>
          <a:prstGeom prst="rect">
            <a:avLst/>
          </a:prstGeom>
          <a:solidFill>
            <a:srgbClr val="F7F9FE"/>
          </a:solidFill>
          <a:ln w="9525">
            <a:solidFill>
              <a:srgbClr val="DD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325112" y="1444752"/>
            <a:ext cx="50292" cy="2103120"/>
          </a:xfrm>
          <a:prstGeom prst="rect">
            <a:avLst/>
          </a:prstGeom>
          <a:solidFill>
            <a:srgbClr val="0B2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81144" y="1609344"/>
            <a:ext cx="3063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A1020"/>
                </a:solidFill>
                <a:latin typeface="Microsoft YaHei"/>
              </a:rPr>
              <a:t>已经验证的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1993392"/>
            <a:ext cx="3063240" cy="1444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20" b="0">
                <a:solidFill>
                  <a:srgbClr val="48587A"/>
                </a:solidFill>
                <a:latin typeface="Microsoft YaHei"/>
              </a:rPr>
              <a:t>升级前后差异可追溯到两处改动；其余逻辑、接口与数据通路未变，现场既有数据的回看结论不受影响。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64424" y="1444752"/>
            <a:ext cx="3538728" cy="2103120"/>
          </a:xfrm>
          <a:prstGeom prst="rect">
            <a:avLst/>
          </a:prstGeom>
          <a:solidFill>
            <a:srgbClr val="F7F9FE"/>
          </a:solidFill>
          <a:ln w="9525">
            <a:solidFill>
              <a:srgbClr val="DD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7964424" y="1444752"/>
            <a:ext cx="50292" cy="2103120"/>
          </a:xfrm>
          <a:prstGeom prst="rect">
            <a:avLst/>
          </a:prstGeom>
          <a:solidFill>
            <a:srgbClr val="155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0456" y="1609344"/>
            <a:ext cx="3063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A1020"/>
                </a:solidFill>
                <a:latin typeface="Microsoft YaHei"/>
              </a:rPr>
              <a:t>接下来要做的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0456" y="1993392"/>
            <a:ext cx="3063240" cy="1444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20" b="0">
                <a:solidFill>
                  <a:srgbClr val="48587A"/>
                </a:solidFill>
                <a:latin typeface="Microsoft YaHei"/>
              </a:rPr>
              <a:t>在更多部位与更长按压时长上扩大样本，并配合产线标定流程完成版本切换。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858768"/>
            <a:ext cx="108173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55DFC"/>
                </a:solidFill>
                <a:latin typeface="Microsoft YaHei"/>
              </a:rPr>
              <a:t>结束语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261104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>
                <a:solidFill>
                  <a:srgbClr val="0A1020"/>
                </a:solidFill>
                <a:latin typeface="Microsoft YaHei"/>
              </a:rPr>
              <a:t>时漂补偿的目的不是让读数好看，而是让设备在真实按压时长下输出可被信任的力值。本次升级把长时按压从「越按越高」变成了「按多久都稳」，这是后续标定、判定与产品化的前提。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