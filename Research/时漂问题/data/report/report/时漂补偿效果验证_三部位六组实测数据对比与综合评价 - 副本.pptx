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18872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模量科技 · Modutech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700784"/>
            <a:ext cx="93268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触觉阵列时漂补偿效果验证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900" b="0" i="0">
                <a:solidFill>
                  <a:srgbClr val="BFD4E8"/>
                </a:solidFill>
                <a:latin typeface="微软雅黑"/>
                <a:ea typeface="微软雅黑"/>
                <a:cs typeface="微软雅黑"/>
              </a:rPr>
              <a:t>右手掌 · 右指腹 · 四指指腹 ｜ 六组实测数据的前后对比与综合评价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4224528"/>
            <a:ext cx="1920240" cy="32004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4462272"/>
            <a:ext cx="9692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C1D8"/>
                </a:solidFill>
                <a:latin typeface="微软雅黑"/>
                <a:ea typeface="微软雅黑"/>
                <a:cs typeface="微软雅黑"/>
              </a:rPr>
              <a:t>数据来源：三处触觉阵列长时间恒载录制，六个数据集（2026-10-15）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A9C1D8"/>
                </a:solidFill>
                <a:latin typeface="微软雅黑"/>
                <a:ea typeface="微软雅黑"/>
                <a:cs typeface="微软雅黑"/>
              </a:rPr>
              <a:t>合计观测时长 52.1 分钟　·　约 100 帧/秒　·　逐帧同步记录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9C1D8"/>
                </a:solidFill>
                <a:latin typeface="微软雅黑"/>
                <a:ea typeface="微软雅黑"/>
                <a:cs typeface="微软雅黑"/>
              </a:rPr>
              <a:t>版本：三部位 · 六组实测　　日期：2026-10-15</a:t>
            </a:r>
          </a:p>
        </p:txBody>
      </p:sp>
      <p:pic>
        <p:nvPicPr>
          <p:cNvPr id="8" name="Picture 7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4553712"/>
            <a:ext cx="960120" cy="960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62288" y="5660136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微软雅黑"/>
                <a:cs typeface="Arial"/>
              </a:rPr>
              <a:t>MODUTECH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测试概况与评价口径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三处部位、每组两次长时间恒载保压录制；每组数据都同时保留“补偿前”与“补偿后”两条曲线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" y="1426464"/>
          <a:ext cx="1081734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6255"/>
                <a:gridCol w="1081735"/>
                <a:gridCol w="1406255"/>
                <a:gridCol w="1081735"/>
                <a:gridCol w="2001210"/>
                <a:gridCol w="2001210"/>
                <a:gridCol w="1838949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测试部位</a:t>
                      </a:r>
                    </a:p>
                  </a:txBody>
                  <a:tcPr marL="91440" marR="73152" marT="18288" marB="18288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组别</a:t>
                      </a:r>
                    </a:p>
                  </a:txBody>
                  <a:tcPr marL="91440" marR="73152" marT="18288" marB="18288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保压时长</a:t>
                      </a:r>
                    </a:p>
                  </a:txBody>
                  <a:tcPr marL="91440" marR="73152" marT="18288" marB="18288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测点数</a:t>
                      </a:r>
                    </a:p>
                  </a:txBody>
                  <a:tcPr marL="91440" marR="73152" marT="18288" marB="18288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补偿前漂移</a:t>
                      </a:r>
                    </a:p>
                  </a:txBody>
                  <a:tcPr marL="91440" marR="73152" marT="18288" marB="18288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补偿后漂移</a:t>
                      </a:r>
                    </a:p>
                  </a:txBody>
                  <a:tcPr marL="91440" marR="73152" marT="18288" marB="18288" anchor="ctr">
                    <a:solidFill>
                      <a:srgbClr val="0B2E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漂移抑制</a:t>
                      </a:r>
                    </a:p>
                  </a:txBody>
                  <a:tcPr marL="91440" marR="73152" marT="18288" marB="18288" anchor="ctr">
                    <a:solidFill>
                      <a:srgbClr val="0B2E4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右手掌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组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11.7 分钟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71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+4.05 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+0.60 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85%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右手掌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 组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10.6 分钟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71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+0.31 N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-0.07 N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79%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右指腹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组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10.1 分钟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57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+0.45 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+0.01 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99%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右指腹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 组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11.1 分钟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57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+0.27 N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0.00 N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100%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四指指腹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1 组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 分钟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52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+0.37 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+0.02 N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95%</a:t>
                      </a:r>
                    </a:p>
                  </a:txBody>
                  <a:tcPr marL="91440" marR="73152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四指指腹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 2 组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2.2 分钟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52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+0.12 N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0.00 N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 i="0">
                          <a:solidFill>
                            <a:srgbClr val="17212B"/>
                          </a:solidFill>
                          <a:latin typeface="Arial"/>
                          <a:ea typeface="微软雅黑"/>
                          <a:cs typeface="Arial"/>
                        </a:rPr>
                        <a:t>96%</a:t>
                      </a:r>
                    </a:p>
                  </a:txBody>
                  <a:tcPr marL="91440" marR="73152" marT="18288" marB="18288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5800" y="4133087"/>
            <a:ext cx="108173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漂移口径：保压稳定后（加载完成约 15 秒起）至录制结束的力值变化量；“补偿前”为设备原始读数，“补偿后”为输出给上位机的值，两者逐帧对齐，差值即算法自动补偿量。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736592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736592"/>
            <a:ext cx="50292" cy="1463040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873752"/>
            <a:ext cx="2999232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六组数据全部通过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六组数据的补偿后漂移均被压到 0.60 N 以内；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抑制幅度 79%–100%，无一组出现补偿失效。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736592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4736592"/>
            <a:ext cx="50292" cy="1463040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4873752"/>
            <a:ext cx="2999232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两类工况同时覆盖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手掌类漂移明显（最大 4.05 N），用于检验补偿力度；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指腹类漂移轻微（≤ 0.45 N），用于检验零偏差。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4736592"/>
            <a:ext cx="3502152" cy="146304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01000" y="4736592"/>
            <a:ext cx="50292" cy="1463040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873752"/>
            <a:ext cx="2999232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测试条件一致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同一套算法配置、同一上位机链路；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合计 52.1 分钟有效保压数据，全程无中断。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六组数据 · 漂移对比总览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把“漂移明显”与“漂移轻微”两类工况放在同一把尺子上看补偿表现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03</a:t>
            </a:r>
          </a:p>
        </p:txBody>
      </p:sp>
      <p:pic>
        <p:nvPicPr>
          <p:cNvPr id="11" name="Picture 10" descr="fig_all_dr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1298448"/>
            <a:ext cx="8595360" cy="311211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864608"/>
            <a:ext cx="50292" cy="131673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01768"/>
            <a:ext cx="2999232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漂移量（N）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右手掌第 1 组：+4.05 → +0.60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其余五组：补偿前 0.12–0.45，补偿后 0.00–0.07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864608"/>
            <a:ext cx="50292" cy="1316736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001768"/>
            <a:ext cx="2999232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相对漂移（%）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右手掌第 1 组：+24.2% → +4.1%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其余五组：≤ 7.1% → ≤ 0.6%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4864608"/>
            <a:ext cx="50292" cy="1316736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5001768"/>
            <a:ext cx="2999232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综合评价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漂移抑制 79%–100%，六组全部达标；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补偿量全部由算法自动生成，全程无人工干预。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右手掌 · 两组保压全程对比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第 1 组 11.7 分钟、第 2 组 10.6 分钟；补偿后漂移分别为 +0.60 N 与 -0.07 N（补偿前 +4.05 N / +0.31 N）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04</a:t>
            </a:r>
          </a:p>
        </p:txBody>
      </p:sp>
      <p:pic>
        <p:nvPicPr>
          <p:cNvPr id="11" name="Picture 10" descr="fig_palm1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316736"/>
            <a:ext cx="10012680" cy="2373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93392" y="161848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第 1 组　·　11.7 分钟　·　71 测点</a:t>
            </a:r>
          </a:p>
        </p:txBody>
      </p:sp>
      <p:pic>
        <p:nvPicPr>
          <p:cNvPr id="13" name="Picture 12" descr="fig_palm2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3822191"/>
            <a:ext cx="10012680" cy="23736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93392" y="4123944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第 2 组　·　10.6 分钟　·　71 测点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右指腹 · 两组保压全程对比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第 1 组 10.1 分钟、第 2 组 11.1 分钟；补偿后漂移分别为 +0.01 N 与 0.00 N（补偿前 +0.45 N / +0.27 N）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05</a:t>
            </a:r>
          </a:p>
        </p:txBody>
      </p:sp>
      <p:pic>
        <p:nvPicPr>
          <p:cNvPr id="11" name="Picture 10" descr="fig_fing1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316736"/>
            <a:ext cx="10012680" cy="2373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93392" y="161848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第 1 组　·　10.1 分钟　·　57 测点</a:t>
            </a:r>
          </a:p>
        </p:txBody>
      </p:sp>
      <p:pic>
        <p:nvPicPr>
          <p:cNvPr id="13" name="Picture 12" descr="fig_fing2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3822191"/>
            <a:ext cx="10012680" cy="23736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93392" y="4123944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第 2 组　·　11.1 分钟　·　57 测点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四指指腹 · 两组保压全程对比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第 1 组 6.4 分钟、第 2 组 2.2 分钟；补偿后漂移分别为 +0.02 N 与 0.00 N（补偿前 +0.37 N / +0.12 N）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06</a:t>
            </a:r>
          </a:p>
        </p:txBody>
      </p:sp>
      <p:pic>
        <p:nvPicPr>
          <p:cNvPr id="11" name="Picture 10" descr="fig_four1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316736"/>
            <a:ext cx="10012680" cy="2373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993392" y="161848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第 1 组　·　6.4 分钟　·　52 测点</a:t>
            </a:r>
          </a:p>
        </p:txBody>
      </p:sp>
      <p:pic>
        <p:nvPicPr>
          <p:cNvPr id="13" name="Picture 12" descr="fig_four2_fu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3822191"/>
            <a:ext cx="10012680" cy="23736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993392" y="4123944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第 2 组　·　2.2 分钟　·　52 测点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瞬时扰动 · 右手掌第 1 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第 61.5 秒出现一次读数阶跃：补偿后冲击幅度下降约四成，且没有污染后续基线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07</a:t>
            </a:r>
          </a:p>
        </p:txBody>
      </p:sp>
      <p:pic>
        <p:nvPicPr>
          <p:cNvPr id="11" name="Picture 10" descr="fig_palm1_ev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4" y="1316736"/>
            <a:ext cx="10058400" cy="411874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5504688"/>
            <a:ext cx="10817352" cy="786384"/>
          </a:xfrm>
          <a:prstGeom prst="roundRect">
            <a:avLst>
              <a:gd name="adj" fmla="val 14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5504688"/>
            <a:ext cx="50292" cy="786384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5614416"/>
            <a:ext cx="1036015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阶跃瞬间：原始读数 +0.49 N → 补偿后 +0.30 N；事件后 30 秒：原始读数累计抬升 +0.89 N（基线被抬高），补偿后保持 +0.36 N 不再漂移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信号波动与瞬时跳变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补偿过程不引入额外噪声：波动水平保持原样，瞬时冲击被削弱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08</a:t>
            </a:r>
          </a:p>
        </p:txBody>
      </p:sp>
      <p:pic>
        <p:nvPicPr>
          <p:cNvPr id="11" name="Picture 10" descr="fig_all_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1368" y="1298448"/>
            <a:ext cx="8595360" cy="311211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864608"/>
            <a:ext cx="50292" cy="131673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001768"/>
            <a:ext cx="2999232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波动水平（5 秒窗口标准差）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手掌类：86–118 mN，补偿后 72–85 mN；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指腹类：4.9–8.4 mN，补偿后同级。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4864608"/>
            <a:ext cx="50292" cy="1316736"/>
          </a:xfrm>
          <a:prstGeom prst="rect">
            <a:avLst/>
          </a:prstGeom>
          <a:solidFill>
            <a:srgbClr val="A83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5001768"/>
            <a:ext cx="2999232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A8322B"/>
                </a:solidFill>
                <a:latin typeface="微软雅黑"/>
                <a:ea typeface="微软雅黑"/>
                <a:cs typeface="微软雅黑"/>
              </a:rPr>
              <a:t>瞬时跳变（1 秒窗口）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右手掌第 1 组 61.5 s：824 → 486 mN；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其余五组全段最大 ≤ 171 mN，补偿后同步减小。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4864608"/>
            <a:ext cx="3502152" cy="1316736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4864608"/>
            <a:ext cx="50292" cy="1316736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5001768"/>
            <a:ext cx="2999232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综合评价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补偿前后波动处于同一水平，未出现“压死”或额外毛刺；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真实载荷变化仍能正常通过，长保压读数稳定可用。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"/>
            <a:ext cx="3886200" cy="4114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84048"/>
            <a:ext cx="8961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综合评价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9264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三处部位、六组数据在“漂移明显”与“漂移轻微”两类工况下均通过验证</a:t>
            </a:r>
          </a:p>
        </p:txBody>
      </p:sp>
      <p:pic>
        <p:nvPicPr>
          <p:cNvPr id="6" name="Picture 5" descr="modutec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4472" y="365760"/>
            <a:ext cx="420624" cy="420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281160" y="402336"/>
            <a:ext cx="12435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模量科技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6428232"/>
            <a:ext cx="10817352" cy="10972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01384"/>
            <a:ext cx="8778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A6572"/>
                </a:solidFill>
                <a:latin typeface="微软雅黑"/>
                <a:ea typeface="微软雅黑"/>
                <a:cs typeface="微软雅黑"/>
              </a:rPr>
              <a:t>模量科技 Modutech　|　触觉阵列时漂补偿　|　三部位 · 六组实测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501384"/>
            <a:ext cx="1078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B2E4F"/>
                </a:solidFill>
                <a:latin typeface="Arial"/>
                <a:ea typeface="微软雅黑"/>
                <a:cs typeface="Arial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26464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426464"/>
            <a:ext cx="50292" cy="1572768"/>
          </a:xfrm>
          <a:prstGeom prst="rect">
            <a:avLst/>
          </a:prstGeom>
          <a:solidFill>
            <a:srgbClr val="2E6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72768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6B50"/>
                </a:solidFill>
                <a:latin typeface="微软雅黑"/>
                <a:ea typeface="微软雅黑"/>
                <a:cs typeface="微软雅黑"/>
              </a:rPr>
              <a:t>补偿有效性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38528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漂移明显工况被强力抑制：右手掌第 1 组由 +4.05 N 降至 +0.60 N，抑制 85%，整个观测窗口内读数保持稳定。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26464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26464"/>
            <a:ext cx="50292" cy="1572768"/>
          </a:xfrm>
          <a:prstGeom prst="rect">
            <a:avLst/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572768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2E4F"/>
                </a:solidFill>
                <a:latin typeface="微软雅黑"/>
                <a:ea typeface="微软雅黑"/>
                <a:cs typeface="微软雅黑"/>
              </a:rPr>
              <a:t>零偏差一致性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38528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漂移轻微工况不引入额外偏差：右指腹、四指指腹四组补偿后残留 ≤ 0.02 N（相对 ≤ 0.3%），与原始读数同量级。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82112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182112"/>
            <a:ext cx="50292" cy="1572768"/>
          </a:xfrm>
          <a:prstGeom prst="rect">
            <a:avLst/>
          </a:prstGeom>
          <a:solidFill>
            <a:srgbClr val="C89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328416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瞬态鲁棒性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694176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右手掌第 61.5 秒的读数阶跃被削弱：0.49 N → 0.30 N，事件后补偿后信号不再随原始读数继续抬升。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182112"/>
            <a:ext cx="5330952" cy="1572768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182112"/>
            <a:ext cx="50292" cy="1572768"/>
          </a:xfrm>
          <a:prstGeom prst="rect">
            <a:avLst/>
          </a:prstGeom>
          <a:solidFill>
            <a:srgbClr val="1645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328416"/>
            <a:ext cx="4828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4572"/>
                </a:solidFill>
                <a:latin typeface="微软雅黑"/>
                <a:ea typeface="微软雅黑"/>
                <a:cs typeface="微软雅黑"/>
              </a:rPr>
              <a:t>信号保真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694176"/>
            <a:ext cx="4828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7212B"/>
                </a:solidFill>
                <a:latin typeface="微软雅黑"/>
                <a:ea typeface="微软雅黑"/>
                <a:cs typeface="微软雅黑"/>
              </a:rPr>
              <a:t>补偿前后波动水平同级（指腹类约 8.3 mN、四指类约 4.8 mN），既压住漂移，也不损失真实载荷变化；六组均未出现读数被“压死”或响应迟滞的现象。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974336"/>
            <a:ext cx="10817352" cy="1188720"/>
          </a:xfrm>
          <a:prstGeom prst="roundRect">
            <a:avLst>
              <a:gd name="adj" fmla="val 10000"/>
            </a:avLst>
          </a:prstGeom>
          <a:solidFill>
            <a:srgbClr val="0B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120640"/>
            <a:ext cx="1010412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89A3C"/>
                </a:solidFill>
                <a:latin typeface="微软雅黑"/>
                <a:ea typeface="微软雅黑"/>
                <a:cs typeface="微软雅黑"/>
              </a:rPr>
              <a:t>整体结论</a:t>
            </a:r>
          </a:p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六组实测数据结论一致：漂移明显的工况被抑制 85% 以上，漂移轻微的工况不产生额外偏差，瞬时扰动不再污染后续基线；合计 52.1 分钟保压数据全部满足长时间采集的使用要求，建议按现配置推进下一阶段批量验证。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