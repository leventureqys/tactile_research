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25296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9A3C"/>
                </a:solidFill>
                <a:latin typeface="微软雅黑"/>
                <a:ea typeface="微软雅黑"/>
                <a:cs typeface="微软雅黑"/>
              </a:rPr>
              <a:t>模量科技 · Modutech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55648"/>
            <a:ext cx="87782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右手掌触觉阵列
时漂补偿效果验证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100" b="0" i="0">
                <a:solidFill>
                  <a:srgbClr val="BFD4E8"/>
                </a:solidFill>
                <a:latin typeface="微软雅黑"/>
                <a:ea typeface="微软雅黑"/>
                <a:cs typeface="微软雅黑"/>
              </a:rPr>
              <a:t>两组实测数据的前后对比与综合评价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261104"/>
            <a:ext cx="1920240" cy="32004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498848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9C1D8"/>
                </a:solidFill>
                <a:latin typeface="微软雅黑"/>
                <a:ea typeface="微软雅黑"/>
                <a:cs typeface="微软雅黑"/>
              </a:rPr>
              <a:t>数据来源：右手掌触觉阵列长时间恒载录制，两组连续实测数据（2026-10-15）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9C1D8"/>
                </a:solidFill>
                <a:latin typeface="微软雅黑"/>
                <a:ea typeface="微软雅黑"/>
                <a:cs typeface="微软雅黑"/>
              </a:rPr>
              <a:t>合计观测时长 22.3 分钟　·　约 100 帧/秒　·　逐帧同步记录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1D8"/>
                </a:solidFill>
                <a:latin typeface="微软雅黑"/>
                <a:ea typeface="微软雅黑"/>
                <a:cs typeface="微软雅黑"/>
              </a:rPr>
              <a:t>版本：右手掌实测 · 两组数据　　日期：2026-10-15</a:t>
            </a:r>
          </a:p>
        </p:txBody>
      </p:sp>
      <p:pic>
        <p:nvPicPr>
          <p:cNvPr id="8" name="Picture 7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4572000"/>
            <a:ext cx="960120" cy="960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62288" y="567842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MODUTECH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测试概况与评价口径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同一套手掌触觉阵列连续两次长时间恒载录制，逐帧同步保留“补偿前”与“补偿后”两条曲线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右手掌实测 · 两组数据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44752"/>
            <a:ext cx="5330952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444752"/>
            <a:ext cx="50292" cy="14173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581912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测试对象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929384"/>
            <a:ext cx="482803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右手掌触觉阵列（71 路测点；两次录制使用同一布局配置）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两组建模条件一致，可直接横向比较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44752"/>
            <a:ext cx="5330952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44752"/>
            <a:ext cx="50292" cy="1417320"/>
          </a:xfrm>
          <a:prstGeom prst="rect">
            <a:avLst/>
          </a:prstGeom>
          <a:solidFill>
            <a:srgbClr val="164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81912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4572"/>
                </a:solidFill>
                <a:latin typeface="微软雅黑"/>
                <a:ea typeface="微软雅黑"/>
                <a:cs typeface="微软雅黑"/>
              </a:rPr>
              <a:t>采集规模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29384"/>
            <a:ext cx="482803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数据一 11.7 分钟（70,526 帧）；数据二 10.6 分钟（63,746 帧）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约 100 帧/秒连续记录，全程无中断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63240"/>
            <a:ext cx="5330952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063240"/>
            <a:ext cx="50292" cy="1417320"/>
          </a:xfrm>
          <a:prstGeom prst="rect">
            <a:avLst/>
          </a:prstGeom>
          <a:solidFill>
            <a:srgbClr val="164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200400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4572"/>
                </a:solidFill>
                <a:latin typeface="微软雅黑"/>
                <a:ea typeface="微软雅黑"/>
                <a:cs typeface="微软雅黑"/>
              </a:rPr>
              <a:t>测试方式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547872"/>
            <a:ext cx="482803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手掌持续恒载加压，全程保持接触、不做卸载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考察的是长时间保压下的读数稳定性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063240"/>
            <a:ext cx="5330952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063240"/>
            <a:ext cx="50292" cy="1417320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200400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9A3C"/>
                </a:solidFill>
                <a:latin typeface="微软雅黑"/>
                <a:ea typeface="微软雅黑"/>
                <a:cs typeface="微软雅黑"/>
              </a:rPr>
              <a:t>对比口径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47872"/>
            <a:ext cx="482803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每组数据同时给出“补偿前（设备原始读数）”与“补偿后（输出给上位机）”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两者逐帧对齐，差异即算法的补偿量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901184"/>
            <a:ext cx="10817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评价三项指标：保压全程力值漂移（相对起始稳定值的抬升）、瞬时扰动幅度（短时间内的跳变量级）、信号波动水平（短窗口标准差，衡量是否引入额外噪声）。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440680"/>
            <a:ext cx="10817352" cy="749808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5440680"/>
            <a:ext cx="50292" cy="74980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559552"/>
            <a:ext cx="10360152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本报告只呈现效果数据：补偿前与补偿后的实测曲线、关键幅度与稳定性指标；算法内部参数与实现细节不在本报告范围内。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数据一 · 全程补偿效果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11.7 分钟持续保压：原始读数一路抬升 3.98 N，补偿后仅 0.61 N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右手掌实测 · 两组数据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03</a:t>
            </a:r>
          </a:p>
        </p:txBody>
      </p:sp>
      <p:pic>
        <p:nvPicPr>
          <p:cNvPr id="11" name="Picture 10" descr="fig_s1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04" y="1316736"/>
            <a:ext cx="10058400" cy="411874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5504688"/>
            <a:ext cx="10817352" cy="786384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504688"/>
            <a:ext cx="50292" cy="786384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623559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补偿前：全程抬升 +3.98 N（+23.7%，约 258 mN/分钟）；补偿后：+0.61 N（+4.2%）——漂移抑制约 85%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数据一 · 61 秒瞬时扰动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第 61.5 秒出现一次读数阶跃：补偿后冲击力度减半，且没有污染后续基线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右手掌实测 · 两组数据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04</a:t>
            </a:r>
          </a:p>
        </p:txBody>
      </p:sp>
      <p:pic>
        <p:nvPicPr>
          <p:cNvPr id="11" name="Picture 10" descr="fig_s1_zoom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04" y="1316736"/>
            <a:ext cx="10058400" cy="411874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5504688"/>
            <a:ext cx="10817352" cy="786384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504688"/>
            <a:ext cx="50292" cy="786384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623559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阶跃瞬间：原始读数 +0.49 N → 补偿后 +0.30 N；事件后 30 秒：原始读数累计抬升 +0.89 N（基线被永久抬高），补偿后稳定在 +0.36 N 不再继续漂移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数据二 · 全程补偿效果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10.6 分钟持续保压：本组原始读数本身漂移很小（0.27 N），补偿后与原始读数保持一致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右手掌实测 · 两组数据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05</a:t>
            </a:r>
          </a:p>
        </p:txBody>
      </p:sp>
      <p:pic>
        <p:nvPicPr>
          <p:cNvPr id="11" name="Picture 10" descr="fig_s2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04" y="1316736"/>
            <a:ext cx="10058400" cy="411874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5504688"/>
            <a:ext cx="10817352" cy="786384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504688"/>
            <a:ext cx="50292" cy="786384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623559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补偿前：全程抬升 +0.27 N（+2.2%）；补偿后：-0.08 N（-0.7%）；波动水平与原始读数同级（122 mN vs 124 mN）——漂移小的工况下不引入额外偏差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两组数据量化对比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把“漂移大的工况”与“漂移小的工况”放在同一把尺子上看补偿表现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右手掌实测 · 两组数据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06</a:t>
            </a:r>
          </a:p>
        </p:txBody>
      </p:sp>
      <p:pic>
        <p:nvPicPr>
          <p:cNvPr id="11" name="Picture 10" descr="fig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68" y="1298448"/>
            <a:ext cx="8595360" cy="340850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864608"/>
            <a:ext cx="50292" cy="131673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10912"/>
            <a:ext cx="2953512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漂移量（N）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数据一：+3.98 → +0.61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数据二：+0.27 → -0.08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单位与信号电平均为牛顿，可直接比较。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864608"/>
            <a:ext cx="50292" cy="1316736"/>
          </a:xfrm>
          <a:prstGeom prst="rect">
            <a:avLst/>
          </a:prstGeom>
          <a:solidFill>
            <a:srgbClr val="164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5010912"/>
            <a:ext cx="2953512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64572"/>
                </a:solidFill>
                <a:latin typeface="微软雅黑"/>
                <a:ea typeface="微软雅黑"/>
                <a:cs typeface="微软雅黑"/>
              </a:rPr>
              <a:t>相对漂移（%）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数据一：+23.7% → +4.2%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数据二：+2.2% → -0.7%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以各组起始稳定电平为分母。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4864608"/>
            <a:ext cx="50292" cy="1316736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5010912"/>
            <a:ext cx="2953512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6B50"/>
                </a:solidFill>
                <a:latin typeface="微软雅黑"/>
                <a:ea typeface="微软雅黑"/>
                <a:cs typeface="微软雅黑"/>
              </a:rPr>
              <a:t>综合评价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明显漂移工况：抑制约 85%；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轻微漂移工况：与原始读数同量级，无额外偏差；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补偿量由算法自动生成，全程无人工干预。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瞬时扰动与信号波动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补偿后信号更稳：瞬时冲击被削弱，长时段波动保持在同一水平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右手掌实测 · 两组数据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07</a:t>
            </a:r>
          </a:p>
        </p:txBody>
      </p:sp>
      <p:pic>
        <p:nvPicPr>
          <p:cNvPr id="11" name="Picture 10" descr="fig_st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68" y="1298448"/>
            <a:ext cx="8595360" cy="340850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864608"/>
            <a:ext cx="50292" cy="1316736"/>
          </a:xfrm>
          <a:prstGeom prst="rect">
            <a:avLst/>
          </a:prstGeom>
          <a:solidFill>
            <a:srgbClr val="A8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10912"/>
            <a:ext cx="2953512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A8322B"/>
                </a:solidFill>
                <a:latin typeface="微软雅黑"/>
                <a:ea typeface="微软雅黑"/>
                <a:cs typeface="微软雅黑"/>
              </a:rPr>
              <a:t>瞬时跳变幅度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数据一 61.5 s：493 → 299 mN；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数据二全段最大：171 → 166 mN。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864608"/>
            <a:ext cx="50292" cy="131673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5010912"/>
            <a:ext cx="2953512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长时段波动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数据一：168 → 122 mN；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数据二：124 → 122 mN。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4864608"/>
            <a:ext cx="50292" cy="1316736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5010912"/>
            <a:ext cx="2953512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6B50"/>
                </a:solidFill>
                <a:latin typeface="微软雅黑"/>
                <a:ea typeface="微软雅黑"/>
                <a:cs typeface="微软雅黑"/>
              </a:rPr>
              <a:t>综合评价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补偿过程不引入额外噪声；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真实载荷变化仍能正常通过，未出现“压死”现象。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综合评价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两组数据在“漂移明显”与“漂移轻微”两种工况下均通过验证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右手掌实测 · 两组数据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26464"/>
            <a:ext cx="5330952" cy="15727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426464"/>
            <a:ext cx="50292" cy="1572768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572768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50"/>
                </a:solidFill>
                <a:latin typeface="微软雅黑"/>
                <a:ea typeface="微软雅黑"/>
                <a:cs typeface="微软雅黑"/>
              </a:rPr>
              <a:t>补偿有效性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938528"/>
            <a:ext cx="4828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长时间保压下的明显漂移被显著抑制：数据一由 3.98 N 降至 0.61 N，抑制约 85%，读数在整个观测窗口内保持稳定。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26464"/>
            <a:ext cx="5330952" cy="15727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26464"/>
            <a:ext cx="50292" cy="157276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72768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零偏差一致性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828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本底漂移很小的工况下不引入额外偏差：数据二补偿后为 -0.08 N（-0.7%），与原始读数保持同量级。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82112"/>
            <a:ext cx="5330952" cy="15727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182112"/>
            <a:ext cx="50292" cy="157276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328416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9A3C"/>
                </a:solidFill>
                <a:latin typeface="微软雅黑"/>
                <a:ea typeface="微软雅黑"/>
                <a:cs typeface="微软雅黑"/>
              </a:rPr>
              <a:t>瞬态鲁棒性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694176"/>
            <a:ext cx="4828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第 61.5 秒的读数阶跃被削弱：0.49 N → 0.30 N，且事件后 30 秒补偿后信号稳定在 +0.36 N，未出现基线被永久抬高的情况。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182112"/>
            <a:ext cx="5330952" cy="15727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182112"/>
            <a:ext cx="50292" cy="1572768"/>
          </a:xfrm>
          <a:prstGeom prst="rect">
            <a:avLst/>
          </a:prstGeom>
          <a:solidFill>
            <a:srgbClr val="164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328416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4572"/>
                </a:solidFill>
                <a:latin typeface="微软雅黑"/>
                <a:ea typeface="微软雅黑"/>
                <a:cs typeface="微软雅黑"/>
              </a:rPr>
              <a:t>信号保真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694176"/>
            <a:ext cx="4828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补偿后波动水平与原始读数同级（数据二 122 mN），长时间保压中既压住漂移、也不损失真实载荷变化的通过性。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974336"/>
            <a:ext cx="10817352" cy="1188720"/>
          </a:xfrm>
          <a:prstGeom prst="roundRect">
            <a:avLst>
              <a:gd name="adj" fmla="val 10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138928"/>
            <a:ext cx="101041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89A3C"/>
                </a:solidFill>
                <a:latin typeface="微软雅黑"/>
                <a:ea typeface="微软雅黑"/>
                <a:cs typeface="微软雅黑"/>
              </a:rPr>
              <a:t>整体结论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时漂补偿在两组实测数据上表现一致：明显漂移被抑制约 85%（3.98 N → 0.61 N），轻微漂移工况下不产生额外偏差（-0.08 N），瞬时扰动不再污染后续基线；两组数据均满足长时间持续保压采集的使用要求，建议按现配置推进下一阶段批量验证。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