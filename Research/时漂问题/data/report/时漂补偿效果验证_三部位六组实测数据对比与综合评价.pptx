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模量科技 ·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83664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触觉阵列时漂补偿效果验证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 i="0">
                <a:solidFill>
                  <a:srgbClr val="BFD4E8"/>
                </a:solidFill>
                <a:latin typeface="微软雅黑"/>
                <a:ea typeface="微软雅黑"/>
                <a:cs typeface="微软雅黑"/>
              </a:rPr>
              <a:t>右手掌 · 右指腹 · 四指指腹 ｜ 六组实测数据的前后对比与综合评价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24528"/>
            <a:ext cx="1920240" cy="3200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43984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六组数据　·　合计 52.1 分钟有效保压　·　漂移抑制 79%–100%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数据来源：三处触觉阵列长时间恒载录制，六个数据集（2026-10-15）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约 100 帧/秒逐帧同步记录　·　版本：三部位 · 六组实测　·　日期：2026-10-15</a:t>
            </a:r>
          </a:p>
        </p:txBody>
      </p:sp>
      <p:pic>
        <p:nvPicPr>
          <p:cNvPr id="8" name="Picture 7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4553712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2288" y="566013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测试概况与评价口径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三处部位各两次长时间恒载保压录制；数据逐帧同步采集，补偿前后可一一对照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426464"/>
          <a:ext cx="1081734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255"/>
                <a:gridCol w="1081735"/>
                <a:gridCol w="1406255"/>
                <a:gridCol w="1081735"/>
                <a:gridCol w="2001210"/>
                <a:gridCol w="2001210"/>
                <a:gridCol w="183894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测试部位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组别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保压时长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测点数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补偿前漂移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补偿后漂移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漂移抑制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右手掌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组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11.7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71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+4.05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+0.60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85%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右手掌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组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71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+0.31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-0.07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79%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右指腹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组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+0.45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+0.01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99%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右指腹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组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57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+0.27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0.00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100%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四指指腹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组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+0.37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+0.02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95%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四指指腹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组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52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+0.12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0.00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96%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133087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漂移口径：保压稳定后（加载完成约 15 秒起）至录制结束的力值变化量；“补偿前”为设备原始读数、“补偿后”为输出给上位机的值，两者一一对应，差值即算法自动补偿量。各组的补偿前后曲线见后续各页。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36592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36592"/>
            <a:ext cx="50292" cy="1463040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3752"/>
            <a:ext cx="2999232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六组数据全部通过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六组数据的补偿后漂移均被压到 0.60 N 以内；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抑制幅度 79%–100%，无一组出现补偿失效。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736592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736592"/>
            <a:ext cx="50292" cy="14630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873752"/>
            <a:ext cx="2999232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两类工况同时覆盖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手掌类漂移明显（最大 4.05 N），用于检验补偿力度；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指腹类漂移轻微（≤ 0.45 N），用于检验零偏差。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736592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4736592"/>
            <a:ext cx="50292" cy="146304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873752"/>
            <a:ext cx="2999232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测试条件一致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同一套算法配置、同一上位机链路；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合计 52.1 分钟有效保压数据，全程无中断。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六组数据 · 漂移对比总览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把“漂移明显”与“漂移轻微”两类工况放在同一把尺子上看补偿表现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pic>
        <p:nvPicPr>
          <p:cNvPr id="11" name="Picture 10" descr="fig_all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1121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漂移量（N）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1 组：+4.05 → +0.60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其余五组：补偿前 0.12–0.45，补偿后最大 0.07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相对漂移（%）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1 组：+24.2% → +4.1%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其余五组：≤ 7.1% → ≤ 0.6%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漂移抑制 79%–100%，六组全部达标；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补偿量全部由算法自动生成，全程无人工干预。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右手掌 · 两组保压全程对比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1 组 11.7 分钟、第 2 组 10.6 分钟；补偿后漂移分别为 +0.60 N 与 -0.07 N（补偿前 +4.05 N / +0.31 N）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pic>
        <p:nvPicPr>
          <p:cNvPr id="11" name="Picture 10" descr="fig_palm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316736"/>
            <a:ext cx="10012680" cy="2373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161848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1 组　·　11.7 分钟　·　71 测点</a:t>
            </a:r>
          </a:p>
        </p:txBody>
      </p:sp>
      <p:pic>
        <p:nvPicPr>
          <p:cNvPr id="13" name="Picture 12" descr="fig_palm2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822191"/>
            <a:ext cx="10012680" cy="2373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3392" y="412394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2 组　·　10.6 分钟　·　71 测点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右指腹 · 两组保压全程对比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1 组 10.1 分钟、第 2 组 11.1 分钟；补偿后漂移分别为 +0.01 N 与 0.00 N（补偿前 +0.45 N / +0.27 N）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pic>
        <p:nvPicPr>
          <p:cNvPr id="11" name="Picture 10" descr="fig_fing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316736"/>
            <a:ext cx="10012680" cy="2373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161848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1 组　·　10.1 分钟　·　57 测点</a:t>
            </a:r>
          </a:p>
        </p:txBody>
      </p:sp>
      <p:pic>
        <p:nvPicPr>
          <p:cNvPr id="13" name="Picture 12" descr="fig_fing2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822191"/>
            <a:ext cx="10012680" cy="2373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3392" y="412394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2 组　·　11.1 分钟　·　57 测点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四指指腹 · 两组保压全程对比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1 组 6.4 分钟、第 2 组 2.2 分钟；补偿后漂移分别为 +0.02 N 与 0.00 N（补偿前 +0.37 N / +0.12 N）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pic>
        <p:nvPicPr>
          <p:cNvPr id="11" name="Picture 10" descr="fig_four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316736"/>
            <a:ext cx="10012680" cy="2373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161848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1 组　·　6.4 分钟　·　52 测点</a:t>
            </a:r>
          </a:p>
        </p:txBody>
      </p:sp>
      <p:pic>
        <p:nvPicPr>
          <p:cNvPr id="13" name="Picture 12" descr="fig_four2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822191"/>
            <a:ext cx="10012680" cy="2373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3392" y="412394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2 组　·　2.2 分钟　·　52 测点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瞬时扰动 · 右手掌第 1 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61.5 秒出现一次读数阶跃：补偿后冲击幅度下降约四成，且没有污染后续基线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07</a:t>
            </a:r>
          </a:p>
        </p:txBody>
      </p:sp>
      <p:pic>
        <p:nvPicPr>
          <p:cNvPr id="11" name="Picture 10" descr="fig_palm1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14416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阶跃瞬间：原始读数 +0.49 N → 补偿后 +0.30 N；事件后 30 秒：原始读数累计抬升 +0.89 N（基线被抬高），补偿后保持 +0.36 N 不再漂移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信号波动与瞬时跳变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补偿过程不引入额外噪声：波动水平保持原样，瞬时冲击被削弱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08</a:t>
            </a:r>
          </a:p>
        </p:txBody>
      </p:sp>
      <p:pic>
        <p:nvPicPr>
          <p:cNvPr id="11" name="Picture 10" descr="fig_all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1121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波动水平（5 秒窗口标准差）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手掌类：86–118 mN，补偿后 72–85 mN；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指腹类：4.9–8.4 mN，补偿后同级。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瞬时跳变（1 秒窗口）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1 组 61.5 s：824 → 486 mN；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其余五组全段最大 ≤ 171 mN，补偿后同步减小。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补偿前后波动处于同一水平，未出现“压死”或额外毛刺；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真实载荷变化仍能正常通过，长保压读数稳定可用。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三处部位、六组数据在“漂移明显”与“漂移轻微”两类工况下均通过验证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补偿有效性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漂移明显工况被强力抑制：右手掌第 1 组由 +4.05 N 降至 +0.60 N，抑制 85%，整个观测窗口内读数保持稳定。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26464"/>
            <a:ext cx="50292" cy="157276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零偏差一致性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漂移轻微工况不引入额外偏差：右指腹、四指指腹四组补偿后残留 ≤ 0.02 N（相对 ≤ 0.3%），与原始读数同量级。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82112"/>
            <a:ext cx="50292" cy="157276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瞬态鲁棒性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61.5 秒的读数阶跃被削弱：0.49 N → 0.30 N，事件后补偿后信号不再随原始读数继续抬升。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182112"/>
            <a:ext cx="50292" cy="1572768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信号保真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补偿前后波动水平同级（指腹类约 8.3 mN、四指类约 4.8 mN），既压住漂移，也不损失真实载荷变化；六组均未出现读数被“压死”或响应迟滞的现象。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74336"/>
            <a:ext cx="10817352" cy="118872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20640"/>
            <a:ext cx="10104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整体结论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六组实测数据结论一致：漂移明显的工况被抑制 85% 以上，漂移轻微的工况不产生额外偏差，瞬时扰动不再污染后续基线；合计 52.1 分钟保压数据全部满足长时间采集的使用要求，建议按现配置推进下一阶段批量验证。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